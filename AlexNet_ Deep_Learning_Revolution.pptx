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24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3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</p:sldIdLst>
  <p:sldSz cy="6858000" cx="12192000"/>
  <p:notesSz cx="6858000" cy="9144000"/>
  <p:embeddedFontLst>
    <p:embeddedFont>
      <p:font typeface="Inter SemiBold"/>
      <p:regular r:id="rId31"/>
      <p:bold r:id="rId32"/>
      <p:italic r:id="rId33"/>
      <p:boldItalic r:id="rId34"/>
    </p:embeddedFont>
    <p:embeddedFont>
      <p:font typeface="Poppins"/>
      <p:regular r:id="rId35"/>
      <p:bold r:id="rId36"/>
      <p:italic r:id="rId37"/>
      <p:boldItalic r:id="rId38"/>
    </p:embeddedFont>
    <p:embeddedFont>
      <p:font typeface="Inter"/>
      <p:regular r:id="rId39"/>
      <p:bold r:id="rId40"/>
      <p:italic r:id="rId41"/>
      <p:boldItalic r:id="rId42"/>
    </p:embeddedFont>
    <p:embeddedFont>
      <p:font typeface="Poppins SemiBold"/>
      <p:regular r:id="rId43"/>
      <p:bold r:id="rId44"/>
      <p:italic r:id="rId45"/>
      <p:boldItalic r:id="rId46"/>
    </p:embeddedFont>
    <p:embeddedFont>
      <p:font typeface="Inter Medium"/>
      <p:regular r:id="rId47"/>
      <p:bold r:id="rId48"/>
      <p:italic r:id="rId49"/>
      <p:boldItalic r:id="rId5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93161979-08E0-49C8-95CD-1F963C751239}">
  <a:tblStyle styleId="{93161979-08E0-49C8-95CD-1F963C751239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Inter-bold.fntdata"/><Relationship Id="rId42" Type="http://schemas.openxmlformats.org/officeDocument/2006/relationships/font" Target="fonts/Inter-boldItalic.fntdata"/><Relationship Id="rId41" Type="http://schemas.openxmlformats.org/officeDocument/2006/relationships/font" Target="fonts/Inter-italic.fntdata"/><Relationship Id="rId44" Type="http://schemas.openxmlformats.org/officeDocument/2006/relationships/font" Target="fonts/PoppinsSemiBold-bold.fntdata"/><Relationship Id="rId43" Type="http://schemas.openxmlformats.org/officeDocument/2006/relationships/font" Target="fonts/PoppinsSemiBold-regular.fntdata"/><Relationship Id="rId46" Type="http://schemas.openxmlformats.org/officeDocument/2006/relationships/font" Target="fonts/PoppinsSemiBold-boldItalic.fntdata"/><Relationship Id="rId45" Type="http://schemas.openxmlformats.org/officeDocument/2006/relationships/font" Target="fonts/PoppinsSemiBold-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48" Type="http://schemas.openxmlformats.org/officeDocument/2006/relationships/font" Target="fonts/InterMedium-bold.fntdata"/><Relationship Id="rId47" Type="http://schemas.openxmlformats.org/officeDocument/2006/relationships/font" Target="fonts/InterMedium-regular.fntdata"/><Relationship Id="rId49" Type="http://schemas.openxmlformats.org/officeDocument/2006/relationships/font" Target="fonts/InterMedium-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InterSemiBold-regular.fntdata"/><Relationship Id="rId30" Type="http://schemas.openxmlformats.org/officeDocument/2006/relationships/slide" Target="slides/slide24.xml"/><Relationship Id="rId33" Type="http://schemas.openxmlformats.org/officeDocument/2006/relationships/font" Target="fonts/InterSemiBold-italic.fntdata"/><Relationship Id="rId32" Type="http://schemas.openxmlformats.org/officeDocument/2006/relationships/font" Target="fonts/InterSemiBold-bold.fntdata"/><Relationship Id="rId35" Type="http://schemas.openxmlformats.org/officeDocument/2006/relationships/font" Target="fonts/Poppins-regular.fntdata"/><Relationship Id="rId34" Type="http://schemas.openxmlformats.org/officeDocument/2006/relationships/font" Target="fonts/InterSemiBold-boldItalic.fntdata"/><Relationship Id="rId37" Type="http://schemas.openxmlformats.org/officeDocument/2006/relationships/font" Target="fonts/Poppins-italic.fntdata"/><Relationship Id="rId36" Type="http://schemas.openxmlformats.org/officeDocument/2006/relationships/font" Target="fonts/Poppins-bold.fntdata"/><Relationship Id="rId39" Type="http://schemas.openxmlformats.org/officeDocument/2006/relationships/font" Target="fonts/Inter-regular.fntdata"/><Relationship Id="rId38" Type="http://schemas.openxmlformats.org/officeDocument/2006/relationships/font" Target="fonts/Poppins-boldItalic.fntdata"/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50" Type="http://schemas.openxmlformats.org/officeDocument/2006/relationships/font" Target="fonts/InterMedium-boldItalic.fnt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" name="Google Shape;281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2" name="Google Shape;292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" name="Google Shape;301;p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9" name="Google Shape;309;p1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2" name="Google Shape;322;p1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0" name="Google Shape;340;p2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3" name="Google Shape;353;p2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2" name="Google Shape;362;p2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0" name="Google Shape;370;p2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9" name="Google Shape;409;p2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Relationship Id="rId7" Type="http://schemas.openxmlformats.org/officeDocument/2006/relationships/image" Target="../media/image5.png"/><Relationship Id="rId8" Type="http://schemas.openxmlformats.org/officeDocument/2006/relationships/image" Target="../media/image6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7.png"/><Relationship Id="rId9" Type="http://schemas.openxmlformats.org/officeDocument/2006/relationships/image" Target="../media/image12.png"/><Relationship Id="rId5" Type="http://schemas.openxmlformats.org/officeDocument/2006/relationships/image" Target="../media/image8.png"/><Relationship Id="rId6" Type="http://schemas.openxmlformats.org/officeDocument/2006/relationships/image" Target="../media/image9.png"/><Relationship Id="rId7" Type="http://schemas.openxmlformats.org/officeDocument/2006/relationships/image" Target="../media/image10.png"/><Relationship Id="rId8" Type="http://schemas.openxmlformats.org/officeDocument/2006/relationships/image" Target="../media/image1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1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14.png"/><Relationship Id="rId5" Type="http://schemas.openxmlformats.org/officeDocument/2006/relationships/image" Target="../media/image15.png"/><Relationship Id="rId6" Type="http://schemas.openxmlformats.org/officeDocument/2006/relationships/image" Target="../media/image1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Relationship Id="rId4" Type="http://schemas.openxmlformats.org/officeDocument/2006/relationships/image" Target="../media/image17.png"/><Relationship Id="rId5" Type="http://schemas.openxmlformats.org/officeDocument/2006/relationships/image" Target="../media/image18.png"/><Relationship Id="rId6" Type="http://schemas.openxmlformats.org/officeDocument/2006/relationships/image" Target="../media/image19.png"/><Relationship Id="rId7" Type="http://schemas.openxmlformats.org/officeDocument/2006/relationships/image" Target="../media/image20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2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21.png"/><Relationship Id="rId6" Type="http://schemas.openxmlformats.org/officeDocument/2006/relationships/image" Target="../media/image2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Relationship Id="rId4" Type="http://schemas.openxmlformats.org/officeDocument/2006/relationships/image" Target="../media/image2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Relationship Id="rId4" Type="http://schemas.openxmlformats.org/officeDocument/2006/relationships/image" Target="../media/image25.png"/><Relationship Id="rId5" Type="http://schemas.openxmlformats.org/officeDocument/2006/relationships/image" Target="../media/image26.png"/><Relationship Id="rId6" Type="http://schemas.openxmlformats.org/officeDocument/2006/relationships/image" Target="../media/image28.png"/><Relationship Id="rId7" Type="http://schemas.openxmlformats.org/officeDocument/2006/relationships/image" Target="../media/image27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0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Relationship Id="rId4" Type="http://schemas.openxmlformats.org/officeDocument/2006/relationships/image" Target="../media/image29.png"/><Relationship Id="rId5" Type="http://schemas.openxmlformats.org/officeDocument/2006/relationships/image" Target="../media/image3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png"/><Relationship Id="rId4" Type="http://schemas.openxmlformats.org/officeDocument/2006/relationships/image" Target="../media/image32.png"/><Relationship Id="rId5" Type="http://schemas.openxmlformats.org/officeDocument/2006/relationships/image" Target="../media/image36.png"/><Relationship Id="rId6" Type="http://schemas.openxmlformats.org/officeDocument/2006/relationships/image" Target="../media/image33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.png"/><Relationship Id="rId4" Type="http://schemas.openxmlformats.org/officeDocument/2006/relationships/image" Target="../media/image34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.png"/><Relationship Id="rId4" Type="http://schemas.openxmlformats.org/officeDocument/2006/relationships/image" Target="../media/image35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7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.png"/><Relationship Id="rId4" Type="http://schemas.openxmlformats.org/officeDocument/2006/relationships/image" Target="../media/image42.png"/><Relationship Id="rId9" Type="http://schemas.openxmlformats.org/officeDocument/2006/relationships/image" Target="../media/image53.png"/><Relationship Id="rId5" Type="http://schemas.openxmlformats.org/officeDocument/2006/relationships/image" Target="../media/image38.png"/><Relationship Id="rId6" Type="http://schemas.openxmlformats.org/officeDocument/2006/relationships/image" Target="../media/image41.png"/><Relationship Id="rId7" Type="http://schemas.openxmlformats.org/officeDocument/2006/relationships/image" Target="../media/image39.png"/><Relationship Id="rId8" Type="http://schemas.openxmlformats.org/officeDocument/2006/relationships/image" Target="../media/image40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.png"/><Relationship Id="rId4" Type="http://schemas.openxmlformats.org/officeDocument/2006/relationships/image" Target="../media/image45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.png"/><Relationship Id="rId4" Type="http://schemas.openxmlformats.org/officeDocument/2006/relationships/image" Target="../media/image6.png"/><Relationship Id="rId9" Type="http://schemas.openxmlformats.org/officeDocument/2006/relationships/image" Target="../media/image27.png"/><Relationship Id="rId5" Type="http://schemas.openxmlformats.org/officeDocument/2006/relationships/image" Target="../media/image13.png"/><Relationship Id="rId6" Type="http://schemas.openxmlformats.org/officeDocument/2006/relationships/image" Target="../media/image16.png"/><Relationship Id="rId7" Type="http://schemas.openxmlformats.org/officeDocument/2006/relationships/image" Target="../media/image22.png"/><Relationship Id="rId8" Type="http://schemas.openxmlformats.org/officeDocument/2006/relationships/image" Target="../media/image23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.png"/><Relationship Id="rId4" Type="http://schemas.openxmlformats.org/officeDocument/2006/relationships/image" Target="../media/image30.png"/><Relationship Id="rId5" Type="http://schemas.openxmlformats.org/officeDocument/2006/relationships/image" Target="../media/image34.png"/><Relationship Id="rId6" Type="http://schemas.openxmlformats.org/officeDocument/2006/relationships/image" Target="../media/image3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3795712" y="2392709"/>
            <a:ext cx="4600575" cy="7542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400" u="none" cap="none" strike="noStrik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ALEXNET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3905250" y="3337470"/>
            <a:ext cx="4381500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The Revolution That Powered Modern AI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3905250" y="4274641"/>
            <a:ext cx="43815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2DD4BF"/>
                </a:solidFill>
                <a:latin typeface="Inter Medium"/>
                <a:ea typeface="Inter Medium"/>
                <a:cs typeface="Inter Medium"/>
                <a:sym typeface="Inter Medium"/>
              </a:rPr>
              <a:t>ANN COURSE PROJECT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2" name="Google Shape;92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3" name="Google Shape;93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25100" y="2113950"/>
            <a:ext cx="5385875" cy="3029550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4"/>
          <p:cNvSpPr txBox="1"/>
          <p:nvPr/>
        </p:nvSpPr>
        <p:spPr>
          <a:xfrm>
            <a:off x="581025" y="2647950"/>
            <a:ext cx="5229225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Designed by Alex Krizhevsky, Ilya Sutskever, and Geoffrey Hinton in 2012, AlexNet is a groundbreaking Convolutional Neural Network (CNN).</a:t>
            </a:r>
            <a:endParaRPr/>
          </a:p>
        </p:txBody>
      </p:sp>
      <p:sp>
        <p:nvSpPr>
          <p:cNvPr id="95" name="Google Shape;95;p14"/>
          <p:cNvSpPr txBox="1"/>
          <p:nvPr/>
        </p:nvSpPr>
        <p:spPr>
          <a:xfrm>
            <a:off x="962025" y="3752850"/>
            <a:ext cx="48482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Winner of ILSVRC 2012</a:t>
            </a:r>
            <a:endParaRPr/>
          </a:p>
        </p:txBody>
      </p:sp>
      <p:sp>
        <p:nvSpPr>
          <p:cNvPr id="96" name="Google Shape;96;p14"/>
          <p:cNvSpPr txBox="1"/>
          <p:nvPr/>
        </p:nvSpPr>
        <p:spPr>
          <a:xfrm>
            <a:off x="962025" y="4295775"/>
            <a:ext cx="48482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First to use GPUs for large-scale training</a:t>
            </a:r>
            <a:endParaRPr/>
          </a:p>
        </p:txBody>
      </p:sp>
      <p:sp>
        <p:nvSpPr>
          <p:cNvPr id="97" name="Google Shape;97;p14"/>
          <p:cNvSpPr txBox="1"/>
          <p:nvPr/>
        </p:nvSpPr>
        <p:spPr>
          <a:xfrm>
            <a:off x="962025" y="4838700"/>
            <a:ext cx="48482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Proved that deep learning beats manual engineering</a:t>
            </a:r>
            <a:endParaRPr/>
          </a:p>
        </p:txBody>
      </p:sp>
      <p:pic>
        <p:nvPicPr>
          <p:cNvPr descr="image.png" id="98" name="Google Shape;98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81025" y="3795712"/>
            <a:ext cx="238125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9" name="Google Shape;99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81025" y="4338637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0" name="Google Shape;100;p1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81025" y="4881562"/>
            <a:ext cx="209550" cy="219075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14"/>
          <p:cNvSpPr txBox="1"/>
          <p:nvPr/>
        </p:nvSpPr>
        <p:spPr>
          <a:xfrm>
            <a:off x="581025" y="581025"/>
            <a:ext cx="11581447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150" u="none" cap="none" strike="noStrike">
                <a:solidFill>
                  <a:srgbClr val="2DD4B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What is AlexNet?</a:t>
            </a:r>
            <a:endParaRPr/>
          </a:p>
        </p:txBody>
      </p:sp>
      <p:pic>
        <p:nvPicPr>
          <p:cNvPr id="102" name="Google Shape;102;p14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6225100" y="2113950"/>
            <a:ext cx="5385876" cy="3029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07" name="Google Shape;107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8" name="Google Shape;108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2109787"/>
            <a:ext cx="3486150" cy="3619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9" name="Google Shape;109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52925" y="2109787"/>
            <a:ext cx="3486150" cy="3619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0" name="Google Shape;110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24825" y="2109787"/>
            <a:ext cx="3486150" cy="3619500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5"/>
          <p:cNvSpPr txBox="1"/>
          <p:nvPr/>
        </p:nvSpPr>
        <p:spPr>
          <a:xfrm>
            <a:off x="923925" y="3109912"/>
            <a:ext cx="2940367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Pre-2012</a:t>
            </a:r>
            <a:endParaRPr/>
          </a:p>
        </p:txBody>
      </p:sp>
      <p:sp>
        <p:nvSpPr>
          <p:cNvPr id="112" name="Google Shape;112;p15"/>
          <p:cNvSpPr txBox="1"/>
          <p:nvPr/>
        </p:nvSpPr>
        <p:spPr>
          <a:xfrm>
            <a:off x="923925" y="3671887"/>
            <a:ext cx="2800350" cy="15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Computer vision relied on hand-crafted features like SIFT and HOG, which were limited in complexity and scaling.</a:t>
            </a:r>
            <a:endParaRPr/>
          </a:p>
        </p:txBody>
      </p:sp>
      <p:sp>
        <p:nvSpPr>
          <p:cNvPr id="113" name="Google Shape;113;p15"/>
          <p:cNvSpPr txBox="1"/>
          <p:nvPr/>
        </p:nvSpPr>
        <p:spPr>
          <a:xfrm>
            <a:off x="4695825" y="3109912"/>
            <a:ext cx="2940367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The Transition</a:t>
            </a:r>
            <a:endParaRPr/>
          </a:p>
        </p:txBody>
      </p:sp>
      <p:sp>
        <p:nvSpPr>
          <p:cNvPr id="114" name="Google Shape;114;p15"/>
          <p:cNvSpPr txBox="1"/>
          <p:nvPr/>
        </p:nvSpPr>
        <p:spPr>
          <a:xfrm>
            <a:off x="4695825" y="3671887"/>
            <a:ext cx="280035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AlexNet shifted the paradigm to "End-to-End" learning, where the network learns features directly from pixels.</a:t>
            </a:r>
            <a:endParaRPr/>
          </a:p>
        </p:txBody>
      </p:sp>
      <p:sp>
        <p:nvSpPr>
          <p:cNvPr id="115" name="Google Shape;115;p15"/>
          <p:cNvSpPr txBox="1"/>
          <p:nvPr/>
        </p:nvSpPr>
        <p:spPr>
          <a:xfrm>
            <a:off x="8467725" y="3109912"/>
            <a:ext cx="2940367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Legacy</a:t>
            </a:r>
            <a:endParaRPr/>
          </a:p>
        </p:txBody>
      </p:sp>
      <p:sp>
        <p:nvSpPr>
          <p:cNvPr id="116" name="Google Shape;116;p15"/>
          <p:cNvSpPr txBox="1"/>
          <p:nvPr/>
        </p:nvSpPr>
        <p:spPr>
          <a:xfrm>
            <a:off x="8467725" y="3671887"/>
            <a:ext cx="280035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This success ignited the "Deep Learning Summer," leading directly to the AI-driven world we live in today.</a:t>
            </a:r>
            <a:endParaRPr/>
          </a:p>
        </p:txBody>
      </p:sp>
      <p:pic>
        <p:nvPicPr>
          <p:cNvPr descr="image.png" id="117" name="Google Shape;117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23925" y="2490787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8" name="Google Shape;118;p1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695825" y="2490787"/>
            <a:ext cx="333375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9" name="Google Shape;119;p15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467725" y="2490787"/>
            <a:ext cx="428625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5"/>
          <p:cNvSpPr txBox="1"/>
          <p:nvPr/>
        </p:nvSpPr>
        <p:spPr>
          <a:xfrm>
            <a:off x="581025" y="581025"/>
            <a:ext cx="11581447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150" u="none" cap="none" strike="noStrike">
                <a:solidFill>
                  <a:srgbClr val="2DD4B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Historical Context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25" name="Google Shape;125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6" name="Google Shape;126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365675" y="1181100"/>
            <a:ext cx="3364576" cy="5089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16"/>
          <p:cNvSpPr txBox="1"/>
          <p:nvPr/>
        </p:nvSpPr>
        <p:spPr>
          <a:xfrm>
            <a:off x="6381750" y="2343150"/>
            <a:ext cx="522922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The network consists of eight trainable layers that progressively extract higher-level features.</a:t>
            </a:r>
            <a:endParaRPr/>
          </a:p>
        </p:txBody>
      </p:sp>
      <p:sp>
        <p:nvSpPr>
          <p:cNvPr id="128" name="Google Shape;128;p16"/>
          <p:cNvSpPr txBox="1"/>
          <p:nvPr/>
        </p:nvSpPr>
        <p:spPr>
          <a:xfrm>
            <a:off x="6762750" y="3143250"/>
            <a:ext cx="484822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5 Convolutional Layers:</a:t>
            </a: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For feature extraction (edges, textures, shapes).</a:t>
            </a:r>
            <a:endParaRPr/>
          </a:p>
        </p:txBody>
      </p:sp>
      <p:sp>
        <p:nvSpPr>
          <p:cNvPr id="129" name="Google Shape;129;p16"/>
          <p:cNvSpPr txBox="1"/>
          <p:nvPr/>
        </p:nvSpPr>
        <p:spPr>
          <a:xfrm>
            <a:off x="6762750" y="3990975"/>
            <a:ext cx="484822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3 Fully Connected Layers:</a:t>
            </a: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For high-level reasoning and classification.</a:t>
            </a:r>
            <a:endParaRPr/>
          </a:p>
        </p:txBody>
      </p:sp>
      <p:sp>
        <p:nvSpPr>
          <p:cNvPr id="130" name="Google Shape;130;p16"/>
          <p:cNvSpPr txBox="1"/>
          <p:nvPr/>
        </p:nvSpPr>
        <p:spPr>
          <a:xfrm>
            <a:off x="6762750" y="4838700"/>
            <a:ext cx="484822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Max Pooling:</a:t>
            </a: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Integrated after Conv1, Conv2, and Conv5.</a:t>
            </a:r>
            <a:endParaRPr/>
          </a:p>
        </p:txBody>
      </p:sp>
      <p:sp>
        <p:nvSpPr>
          <p:cNvPr id="131" name="Google Shape;131;p16"/>
          <p:cNvSpPr txBox="1"/>
          <p:nvPr/>
        </p:nvSpPr>
        <p:spPr>
          <a:xfrm>
            <a:off x="581025" y="581025"/>
            <a:ext cx="11581447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150" u="none" cap="none" strike="noStrike">
                <a:solidFill>
                  <a:srgbClr val="2DD4B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The 8-Layer Architecture</a:t>
            </a:r>
            <a:endParaRPr/>
          </a:p>
        </p:txBody>
      </p:sp>
      <p:pic>
        <p:nvPicPr>
          <p:cNvPr id="132" name="Google Shape;132;p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365674" y="1181100"/>
            <a:ext cx="3364574" cy="5089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37" name="Google Shape;137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8" name="Google Shape;138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3338512"/>
            <a:ext cx="4943475" cy="857250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17"/>
          <p:cNvSpPr txBox="1"/>
          <p:nvPr/>
        </p:nvSpPr>
        <p:spPr>
          <a:xfrm>
            <a:off x="581025" y="1176337"/>
            <a:ext cx="5190648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150" u="none" cap="none" strike="noStrike">
                <a:solidFill>
                  <a:srgbClr val="2DD4B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Innovation 1: ReLU</a:t>
            </a:r>
            <a:endParaRPr/>
          </a:p>
        </p:txBody>
      </p:sp>
      <p:sp>
        <p:nvSpPr>
          <p:cNvPr id="140" name="Google Shape;140;p17"/>
          <p:cNvSpPr txBox="1"/>
          <p:nvPr/>
        </p:nvSpPr>
        <p:spPr>
          <a:xfrm>
            <a:off x="581025" y="2347912"/>
            <a:ext cx="494347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Before AlexNet, Sigmoid and Tanh were standard. AlexNet introduced the </a:t>
            </a:r>
            <a:r>
              <a:rPr b="1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Rectified Linear Unit (ReLU)</a:t>
            </a: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/>
          </a:p>
        </p:txBody>
      </p:sp>
      <p:sp>
        <p:nvSpPr>
          <p:cNvPr id="141" name="Google Shape;141;p17"/>
          <p:cNvSpPr txBox="1"/>
          <p:nvPr/>
        </p:nvSpPr>
        <p:spPr>
          <a:xfrm>
            <a:off x="581025" y="4576762"/>
            <a:ext cx="4943475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This non-saturating nonlinearity allowed the network to train much faster than those using traditional saturating functions.</a:t>
            </a:r>
            <a:endParaRPr/>
          </a:p>
        </p:txBody>
      </p:sp>
      <p:pic>
        <p:nvPicPr>
          <p:cNvPr descr="image.png" id="142" name="Google Shape;142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66775" y="3624262"/>
            <a:ext cx="4371975" cy="285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" name="Google Shape;143;p1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857725" y="2178637"/>
            <a:ext cx="6204276" cy="2500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48" name="Google Shape;148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9" name="Google Shape;149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2500312"/>
            <a:ext cx="5229225" cy="2838450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18"/>
          <p:cNvSpPr txBox="1"/>
          <p:nvPr/>
        </p:nvSpPr>
        <p:spPr>
          <a:xfrm>
            <a:off x="581025" y="2886075"/>
            <a:ext cx="5490686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Speed &amp; Convergence</a:t>
            </a:r>
            <a:endParaRPr/>
          </a:p>
        </p:txBody>
      </p:sp>
      <p:sp>
        <p:nvSpPr>
          <p:cNvPr id="151" name="Google Shape;151;p18"/>
          <p:cNvSpPr txBox="1"/>
          <p:nvPr/>
        </p:nvSpPr>
        <p:spPr>
          <a:xfrm>
            <a:off x="581025" y="3352800"/>
            <a:ext cx="522922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AlexNet reached a 25% error rate on ImageNet </a:t>
            </a:r>
            <a:r>
              <a:rPr b="1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6 times faster</a:t>
            </a: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using ReLU compared to Tanh.</a:t>
            </a:r>
            <a:endParaRPr/>
          </a:p>
        </p:txBody>
      </p:sp>
      <p:sp>
        <p:nvSpPr>
          <p:cNvPr id="152" name="Google Shape;152;p18"/>
          <p:cNvSpPr txBox="1"/>
          <p:nvPr/>
        </p:nvSpPr>
        <p:spPr>
          <a:xfrm>
            <a:off x="581025" y="4152900"/>
            <a:ext cx="522922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It effectively solved the "vanishing gradient" problem for deep architectures of that time.</a:t>
            </a:r>
            <a:endParaRPr/>
          </a:p>
        </p:txBody>
      </p:sp>
      <p:sp>
        <p:nvSpPr>
          <p:cNvPr id="153" name="Google Shape;153;p18"/>
          <p:cNvSpPr txBox="1"/>
          <p:nvPr/>
        </p:nvSpPr>
        <p:spPr>
          <a:xfrm>
            <a:off x="6724650" y="2843212"/>
            <a:ext cx="4770596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2DD4BF"/>
                </a:solidFill>
                <a:latin typeface="Poppins"/>
                <a:ea typeface="Poppins"/>
                <a:cs typeface="Poppins"/>
                <a:sym typeface="Poppins"/>
              </a:rPr>
              <a:t>Advantage Summary</a:t>
            </a:r>
            <a:endParaRPr/>
          </a:p>
        </p:txBody>
      </p:sp>
      <p:sp>
        <p:nvSpPr>
          <p:cNvPr id="154" name="Google Shape;154;p18"/>
          <p:cNvSpPr txBox="1"/>
          <p:nvPr/>
        </p:nvSpPr>
        <p:spPr>
          <a:xfrm>
            <a:off x="7105650" y="3367087"/>
            <a:ext cx="41624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Fast computation (simple threshold)</a:t>
            </a:r>
            <a:endParaRPr/>
          </a:p>
        </p:txBody>
      </p:sp>
      <p:sp>
        <p:nvSpPr>
          <p:cNvPr id="155" name="Google Shape;155;p18"/>
          <p:cNvSpPr txBox="1"/>
          <p:nvPr/>
        </p:nvSpPr>
        <p:spPr>
          <a:xfrm>
            <a:off x="7105650" y="3910012"/>
            <a:ext cx="41624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Non-saturating gradients</a:t>
            </a:r>
            <a:endParaRPr/>
          </a:p>
        </p:txBody>
      </p:sp>
      <p:sp>
        <p:nvSpPr>
          <p:cNvPr id="156" name="Google Shape;156;p18"/>
          <p:cNvSpPr txBox="1"/>
          <p:nvPr/>
        </p:nvSpPr>
        <p:spPr>
          <a:xfrm>
            <a:off x="7105650" y="4452937"/>
            <a:ext cx="41624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Enables deeper training</a:t>
            </a:r>
            <a:endParaRPr/>
          </a:p>
        </p:txBody>
      </p:sp>
      <p:pic>
        <p:nvPicPr>
          <p:cNvPr descr="image.png" id="157" name="Google Shape;157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724650" y="3409950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8" name="Google Shape;158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724650" y="3952875"/>
            <a:ext cx="238125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9" name="Google Shape;159;p1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724650" y="4495800"/>
            <a:ext cx="238125" cy="219075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18"/>
          <p:cNvSpPr txBox="1"/>
          <p:nvPr/>
        </p:nvSpPr>
        <p:spPr>
          <a:xfrm>
            <a:off x="581025" y="581025"/>
            <a:ext cx="11581447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150" u="none" cap="none" strike="noStrike">
                <a:solidFill>
                  <a:srgbClr val="2DD4B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Why ReLU?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65" name="Google Shape;165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6" name="Google Shape;166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36825" y="2422425"/>
            <a:ext cx="5573425" cy="3160550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19"/>
          <p:cNvSpPr txBox="1"/>
          <p:nvPr/>
        </p:nvSpPr>
        <p:spPr>
          <a:xfrm>
            <a:off x="6381750" y="2647950"/>
            <a:ext cx="522922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In 2012, GPUs had limited memory (3GB). AlexNet was split across </a:t>
            </a:r>
            <a:r>
              <a:rPr b="1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two NVIDIA GTX 580 GPUs</a:t>
            </a: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/>
          </a:p>
        </p:txBody>
      </p:sp>
      <p:sp>
        <p:nvSpPr>
          <p:cNvPr id="168" name="Google Shape;168;p19"/>
          <p:cNvSpPr txBox="1"/>
          <p:nvPr/>
        </p:nvSpPr>
        <p:spPr>
          <a:xfrm>
            <a:off x="6762750" y="3448050"/>
            <a:ext cx="48482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Kernels were divided between GPUs.</a:t>
            </a:r>
            <a:endParaRPr/>
          </a:p>
        </p:txBody>
      </p:sp>
      <p:sp>
        <p:nvSpPr>
          <p:cNvPr id="169" name="Google Shape;169;p19"/>
          <p:cNvSpPr txBox="1"/>
          <p:nvPr/>
        </p:nvSpPr>
        <p:spPr>
          <a:xfrm>
            <a:off x="6762750" y="3990975"/>
            <a:ext cx="48482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Communication occurred only at specific layers.</a:t>
            </a:r>
            <a:endParaRPr/>
          </a:p>
        </p:txBody>
      </p:sp>
      <p:sp>
        <p:nvSpPr>
          <p:cNvPr id="170" name="Google Shape;170;p19"/>
          <p:cNvSpPr txBox="1"/>
          <p:nvPr/>
        </p:nvSpPr>
        <p:spPr>
          <a:xfrm>
            <a:off x="6762750" y="4533900"/>
            <a:ext cx="484822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This reduced training time to roughly 6 days for 1.2M images.</a:t>
            </a:r>
            <a:endParaRPr/>
          </a:p>
        </p:txBody>
      </p:sp>
      <p:sp>
        <p:nvSpPr>
          <p:cNvPr id="171" name="Google Shape;171;p19"/>
          <p:cNvSpPr txBox="1"/>
          <p:nvPr/>
        </p:nvSpPr>
        <p:spPr>
          <a:xfrm>
            <a:off x="581025" y="581025"/>
            <a:ext cx="11581447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150" u="none" cap="none" strike="noStrike">
                <a:solidFill>
                  <a:srgbClr val="2DD4B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Innovation 2: Multi-GPU</a:t>
            </a:r>
            <a:endParaRPr/>
          </a:p>
        </p:txBody>
      </p:sp>
      <p:pic>
        <p:nvPicPr>
          <p:cNvPr id="172" name="Google Shape;172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36825" y="2422425"/>
            <a:ext cx="5573424" cy="3160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77" name="Google Shape;177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8" name="Google Shape;178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91225" y="2238100"/>
            <a:ext cx="5810250" cy="23818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9" name="Google Shape;179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81025" y="2986087"/>
            <a:ext cx="5229225" cy="1562100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p20"/>
          <p:cNvSpPr txBox="1"/>
          <p:nvPr/>
        </p:nvSpPr>
        <p:spPr>
          <a:xfrm>
            <a:off x="581025" y="2185987"/>
            <a:ext cx="522922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Traditional pooling used non-overlapping grids. AlexNet used a stride smaller than the pooling window size.</a:t>
            </a:r>
            <a:endParaRPr/>
          </a:p>
        </p:txBody>
      </p:sp>
      <p:sp>
        <p:nvSpPr>
          <p:cNvPr id="181" name="Google Shape;181;p20"/>
          <p:cNvSpPr txBox="1"/>
          <p:nvPr/>
        </p:nvSpPr>
        <p:spPr>
          <a:xfrm>
            <a:off x="581025" y="4738687"/>
            <a:ext cx="5229225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This scheme reduced top-1 and top-5 error rates by 0.4% and 0.3% respectively and made it harder to overfit.</a:t>
            </a:r>
            <a:endParaRPr/>
          </a:p>
        </p:txBody>
      </p:sp>
      <p:sp>
        <p:nvSpPr>
          <p:cNvPr id="182" name="Google Shape;182;p20"/>
          <p:cNvSpPr txBox="1"/>
          <p:nvPr/>
        </p:nvSpPr>
        <p:spPr>
          <a:xfrm>
            <a:off x="771525" y="3367087"/>
            <a:ext cx="48482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Window Size:</a:t>
            </a: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3x3</a:t>
            </a:r>
            <a:endParaRPr/>
          </a:p>
        </p:txBody>
      </p:sp>
      <p:sp>
        <p:nvSpPr>
          <p:cNvPr id="183" name="Google Shape;183;p20"/>
          <p:cNvSpPr txBox="1"/>
          <p:nvPr/>
        </p:nvSpPr>
        <p:spPr>
          <a:xfrm>
            <a:off x="771525" y="3862387"/>
            <a:ext cx="48482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Stride:</a:t>
            </a: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2</a:t>
            </a:r>
            <a:endParaRPr/>
          </a:p>
        </p:txBody>
      </p:sp>
      <p:sp>
        <p:nvSpPr>
          <p:cNvPr id="184" name="Google Shape;184;p20"/>
          <p:cNvSpPr txBox="1"/>
          <p:nvPr/>
        </p:nvSpPr>
        <p:spPr>
          <a:xfrm>
            <a:off x="581025" y="581025"/>
            <a:ext cx="11581447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150" u="none" cap="none" strike="noStrike">
                <a:solidFill>
                  <a:srgbClr val="2DD4B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Innovation 3: Overlapping Pooling</a:t>
            </a:r>
            <a:endParaRPr/>
          </a:p>
        </p:txBody>
      </p:sp>
      <p:pic>
        <p:nvPicPr>
          <p:cNvPr id="185" name="Google Shape;185;p2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091237" y="2238089"/>
            <a:ext cx="5810249" cy="238183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90" name="Google Shape;190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1" name="Google Shape;191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2809875"/>
            <a:ext cx="11029950" cy="3467100"/>
          </a:xfrm>
          <a:prstGeom prst="rect">
            <a:avLst/>
          </a:prstGeom>
          <a:noFill/>
          <a:ln>
            <a:noFill/>
          </a:ln>
        </p:spPr>
      </p:pic>
      <p:sp>
        <p:nvSpPr>
          <p:cNvPr id="192" name="Google Shape;192;p21"/>
          <p:cNvSpPr txBox="1"/>
          <p:nvPr/>
        </p:nvSpPr>
        <p:spPr>
          <a:xfrm>
            <a:off x="581025" y="1562100"/>
            <a:ext cx="11581447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Local Response Normalization</a:t>
            </a:r>
            <a:endParaRPr/>
          </a:p>
        </p:txBody>
      </p:sp>
      <p:sp>
        <p:nvSpPr>
          <p:cNvPr id="193" name="Google Shape;193;p21"/>
          <p:cNvSpPr txBox="1"/>
          <p:nvPr/>
        </p:nvSpPr>
        <p:spPr>
          <a:xfrm>
            <a:off x="581025" y="2028825"/>
            <a:ext cx="110299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Inspired by biological "lateral inhibition," LRN creates competition between neuron outputs at the same spatial location.</a:t>
            </a:r>
            <a:endParaRPr/>
          </a:p>
        </p:txBody>
      </p:sp>
      <p:sp>
        <p:nvSpPr>
          <p:cNvPr id="194" name="Google Shape;194;p21"/>
          <p:cNvSpPr txBox="1"/>
          <p:nvPr/>
        </p:nvSpPr>
        <p:spPr>
          <a:xfrm>
            <a:off x="923925" y="3343275"/>
            <a:ext cx="103441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It normalizes the activation of a neuron relative to its neighbors across channels, enhancing high-contrast features and improving generalization. Though common in 2012, it was later superseded by Batch Normalization.</a:t>
            </a:r>
            <a:endParaRPr/>
          </a:p>
        </p:txBody>
      </p:sp>
      <p:sp>
        <p:nvSpPr>
          <p:cNvPr id="195" name="Google Shape;195;p21"/>
          <p:cNvSpPr txBox="1"/>
          <p:nvPr/>
        </p:nvSpPr>
        <p:spPr>
          <a:xfrm>
            <a:off x="581025" y="581025"/>
            <a:ext cx="11581447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150" u="none" cap="none" strike="noStrike">
                <a:solidFill>
                  <a:srgbClr val="2DD4B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Innovation 4: LRN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00" name="Google Shape;200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1" name="Google Shape;201;p22"/>
          <p:cNvSpPr txBox="1"/>
          <p:nvPr/>
        </p:nvSpPr>
        <p:spPr>
          <a:xfrm>
            <a:off x="581025" y="981075"/>
            <a:ext cx="5190648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150" u="none" cap="none" strike="noStrike">
                <a:solidFill>
                  <a:srgbClr val="2DD4B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Combatting Overfitting</a:t>
            </a:r>
            <a:endParaRPr/>
          </a:p>
        </p:txBody>
      </p:sp>
      <p:sp>
        <p:nvSpPr>
          <p:cNvPr id="202" name="Google Shape;202;p22"/>
          <p:cNvSpPr txBox="1"/>
          <p:nvPr/>
        </p:nvSpPr>
        <p:spPr>
          <a:xfrm>
            <a:off x="581025" y="2152650"/>
            <a:ext cx="494347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With 60M parameters, overfitting was the biggest threat. AlexNet used </a:t>
            </a:r>
            <a:r>
              <a:rPr b="1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Data Augmentation</a:t>
            </a: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:</a:t>
            </a:r>
            <a:endParaRPr/>
          </a:p>
        </p:txBody>
      </p:sp>
      <p:sp>
        <p:nvSpPr>
          <p:cNvPr id="203" name="Google Shape;203;p22"/>
          <p:cNvSpPr txBox="1"/>
          <p:nvPr/>
        </p:nvSpPr>
        <p:spPr>
          <a:xfrm>
            <a:off x="581025" y="5076825"/>
            <a:ext cx="494347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This increased the effective training set size 2048-fold.</a:t>
            </a:r>
            <a:endParaRPr/>
          </a:p>
        </p:txBody>
      </p:sp>
      <p:sp>
        <p:nvSpPr>
          <p:cNvPr id="204" name="Google Shape;204;p22"/>
          <p:cNvSpPr txBox="1"/>
          <p:nvPr/>
        </p:nvSpPr>
        <p:spPr>
          <a:xfrm>
            <a:off x="962025" y="3105150"/>
            <a:ext cx="45624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Horizontal Flipping</a:t>
            </a:r>
            <a:endParaRPr/>
          </a:p>
        </p:txBody>
      </p:sp>
      <p:sp>
        <p:nvSpPr>
          <p:cNvPr id="205" name="Google Shape;205;p22"/>
          <p:cNvSpPr txBox="1"/>
          <p:nvPr/>
        </p:nvSpPr>
        <p:spPr>
          <a:xfrm>
            <a:off x="962025" y="3648075"/>
            <a:ext cx="45624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Random 224x224 Cropping</a:t>
            </a:r>
            <a:endParaRPr/>
          </a:p>
        </p:txBody>
      </p:sp>
      <p:sp>
        <p:nvSpPr>
          <p:cNvPr id="206" name="Google Shape;206;p22"/>
          <p:cNvSpPr txBox="1"/>
          <p:nvPr/>
        </p:nvSpPr>
        <p:spPr>
          <a:xfrm>
            <a:off x="962025" y="4191000"/>
            <a:ext cx="45624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RGB Intensity Shifting (PCA-based)</a:t>
            </a:r>
            <a:endParaRPr/>
          </a:p>
        </p:txBody>
      </p:sp>
      <p:pic>
        <p:nvPicPr>
          <p:cNvPr descr="image.png" id="207" name="Google Shape;207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3148012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8" name="Google Shape;208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81025" y="3690937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9" name="Google Shape;209;p2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81025" y="4233862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0" name="Google Shape;210;p22"/>
          <p:cNvPicPr preferRelativeResize="0"/>
          <p:nvPr/>
        </p:nvPicPr>
        <p:blipFill rotWithShape="1">
          <a:blip r:embed="rId7">
            <a:alphaModFix/>
          </a:blip>
          <a:srcRect b="0" l="2401" r="0" t="0"/>
          <a:stretch/>
        </p:blipFill>
        <p:spPr>
          <a:xfrm>
            <a:off x="6017450" y="1666575"/>
            <a:ext cx="5701225" cy="40198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15" name="Google Shape;215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6" name="Google Shape;216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90525" y="2064425"/>
            <a:ext cx="5810250" cy="2805225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23"/>
          <p:cNvSpPr txBox="1"/>
          <p:nvPr/>
        </p:nvSpPr>
        <p:spPr>
          <a:xfrm>
            <a:off x="6381750" y="2647950"/>
            <a:ext cx="522922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Applied to the first two fully connected layers with a </a:t>
            </a:r>
            <a:r>
              <a:rPr b="1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0.5 probability</a:t>
            </a: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/>
          </a:p>
        </p:txBody>
      </p:sp>
      <p:sp>
        <p:nvSpPr>
          <p:cNvPr id="218" name="Google Shape;218;p23"/>
          <p:cNvSpPr txBox="1"/>
          <p:nvPr/>
        </p:nvSpPr>
        <p:spPr>
          <a:xfrm>
            <a:off x="6762750" y="3448050"/>
            <a:ext cx="48482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Randomly zeros out neurons during training.</a:t>
            </a:r>
            <a:endParaRPr/>
          </a:p>
        </p:txBody>
      </p:sp>
      <p:sp>
        <p:nvSpPr>
          <p:cNvPr id="219" name="Google Shape;219;p23"/>
          <p:cNvSpPr txBox="1"/>
          <p:nvPr/>
        </p:nvSpPr>
        <p:spPr>
          <a:xfrm>
            <a:off x="6762750" y="3990975"/>
            <a:ext cx="48482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Prevents complex co-adaptations of neurons.</a:t>
            </a:r>
            <a:endParaRPr/>
          </a:p>
        </p:txBody>
      </p:sp>
      <p:sp>
        <p:nvSpPr>
          <p:cNvPr id="220" name="Google Shape;220;p23"/>
          <p:cNvSpPr txBox="1"/>
          <p:nvPr/>
        </p:nvSpPr>
        <p:spPr>
          <a:xfrm>
            <a:off x="6762750" y="4533900"/>
            <a:ext cx="484822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Forces the network to learn more robust, redundant features.</a:t>
            </a:r>
            <a:endParaRPr/>
          </a:p>
        </p:txBody>
      </p:sp>
      <p:sp>
        <p:nvSpPr>
          <p:cNvPr id="221" name="Google Shape;221;p23"/>
          <p:cNvSpPr txBox="1"/>
          <p:nvPr/>
        </p:nvSpPr>
        <p:spPr>
          <a:xfrm>
            <a:off x="581025" y="581025"/>
            <a:ext cx="11581447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150" u="none" cap="none" strike="noStrike">
                <a:solidFill>
                  <a:srgbClr val="2DD4B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The Power of Dropout</a:t>
            </a:r>
            <a:endParaRPr/>
          </a:p>
        </p:txBody>
      </p:sp>
      <p:pic>
        <p:nvPicPr>
          <p:cNvPr id="222" name="Google Shape;222;p2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90513" y="2147094"/>
            <a:ext cx="5810250" cy="27225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27" name="Google Shape;227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8" name="Google Shape;228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2695575"/>
            <a:ext cx="5229225" cy="2447925"/>
          </a:xfrm>
          <a:prstGeom prst="rect">
            <a:avLst/>
          </a:prstGeom>
          <a:noFill/>
          <a:ln>
            <a:noFill/>
          </a:ln>
        </p:spPr>
      </p:pic>
      <p:sp>
        <p:nvSpPr>
          <p:cNvPr id="229" name="Google Shape;229;p24"/>
          <p:cNvSpPr txBox="1"/>
          <p:nvPr/>
        </p:nvSpPr>
        <p:spPr>
          <a:xfrm>
            <a:off x="581025" y="2490787"/>
            <a:ext cx="5490686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Specs:</a:t>
            </a:r>
            <a:endParaRPr/>
          </a:p>
        </p:txBody>
      </p:sp>
      <p:sp>
        <p:nvSpPr>
          <p:cNvPr id="230" name="Google Shape;230;p24"/>
          <p:cNvSpPr txBox="1"/>
          <p:nvPr/>
        </p:nvSpPr>
        <p:spPr>
          <a:xfrm>
            <a:off x="581025" y="4548187"/>
            <a:ext cx="522922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The large 11x11 kernels were designed to capture broad, low-level features like edges and basic color blobs.</a:t>
            </a:r>
            <a:endParaRPr/>
          </a:p>
        </p:txBody>
      </p:sp>
      <p:sp>
        <p:nvSpPr>
          <p:cNvPr id="231" name="Google Shape;231;p24"/>
          <p:cNvSpPr txBox="1"/>
          <p:nvPr/>
        </p:nvSpPr>
        <p:spPr>
          <a:xfrm>
            <a:off x="6724650" y="3695700"/>
            <a:ext cx="4543425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The output of Layer 1 is a 55x55x96 feature map, which is then processed by ReLU, LRN, and Max Pooling.</a:t>
            </a:r>
            <a:endParaRPr/>
          </a:p>
        </p:txBody>
      </p:sp>
      <p:sp>
        <p:nvSpPr>
          <p:cNvPr id="232" name="Google Shape;232;p24"/>
          <p:cNvSpPr txBox="1"/>
          <p:nvPr/>
        </p:nvSpPr>
        <p:spPr>
          <a:xfrm>
            <a:off x="962025" y="2919412"/>
            <a:ext cx="48482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Input:</a:t>
            </a: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224 x 224 x 3 (RGB)</a:t>
            </a:r>
            <a:endParaRPr/>
          </a:p>
        </p:txBody>
      </p:sp>
      <p:sp>
        <p:nvSpPr>
          <p:cNvPr id="233" name="Google Shape;233;p24"/>
          <p:cNvSpPr txBox="1"/>
          <p:nvPr/>
        </p:nvSpPr>
        <p:spPr>
          <a:xfrm>
            <a:off x="962025" y="3462337"/>
            <a:ext cx="48482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Kernels:</a:t>
            </a: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96 filters (11 x 11)</a:t>
            </a:r>
            <a:endParaRPr/>
          </a:p>
        </p:txBody>
      </p:sp>
      <p:sp>
        <p:nvSpPr>
          <p:cNvPr id="234" name="Google Shape;234;p24"/>
          <p:cNvSpPr txBox="1"/>
          <p:nvPr/>
        </p:nvSpPr>
        <p:spPr>
          <a:xfrm>
            <a:off x="962025" y="4005262"/>
            <a:ext cx="48482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Stride:</a:t>
            </a: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4</a:t>
            </a:r>
            <a:endParaRPr/>
          </a:p>
        </p:txBody>
      </p:sp>
      <p:pic>
        <p:nvPicPr>
          <p:cNvPr descr="image.png" id="235" name="Google Shape;235;p2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724650" y="3076575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6" name="Google Shape;236;p24"/>
          <p:cNvSpPr txBox="1"/>
          <p:nvPr/>
        </p:nvSpPr>
        <p:spPr>
          <a:xfrm>
            <a:off x="581025" y="581025"/>
            <a:ext cx="11581447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150" u="none" cap="none" strike="noStrike">
                <a:solidFill>
                  <a:srgbClr val="2DD4B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Layer 1: Input to Feature Map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41" name="Google Shape;241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42" name="Google Shape;242;p25"/>
          <p:cNvGraphicFramePr/>
          <p:nvPr/>
        </p:nvGraphicFramePr>
        <p:xfrm>
          <a:off x="581025" y="263366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{93161979-08E0-49C8-95CD-1F963C751239}</a:tableStyleId>
              </a:tblPr>
              <a:tblGrid>
                <a:gridCol w="1848000"/>
                <a:gridCol w="2412050"/>
                <a:gridCol w="1672825"/>
                <a:gridCol w="5097075"/>
              </a:tblGrid>
              <a:tr h="5524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2DD4BF"/>
                          </a:solidFill>
                          <a:latin typeface="Inter SemiBold"/>
                          <a:ea typeface="Inter SemiBold"/>
                          <a:cs typeface="Inter SemiBold"/>
                          <a:sym typeface="Inter SemiBold"/>
                        </a:rPr>
                        <a:t>Layer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2DD4BF"/>
                          </a:solidFill>
                          <a:latin typeface="Inter SemiBold"/>
                          <a:ea typeface="Inter SemiBold"/>
                          <a:cs typeface="Inter SemiBold"/>
                          <a:sym typeface="Inter SemiBold"/>
                        </a:rPr>
                        <a:t>Kernel Size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2DD4BF"/>
                          </a:solidFill>
                          <a:latin typeface="Inter SemiBold"/>
                          <a:ea typeface="Inter SemiBold"/>
                          <a:cs typeface="Inter SemiBold"/>
                          <a:sym typeface="Inter SemiBold"/>
                        </a:rPr>
                        <a:t>Filters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2DD4BF"/>
                          </a:solidFill>
                          <a:latin typeface="Inter SemiBold"/>
                          <a:ea typeface="Inter SemiBold"/>
                          <a:cs typeface="Inter SemiBold"/>
                          <a:sym typeface="Inter SemiBold"/>
                        </a:rPr>
                        <a:t>Notes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34155"/>
                    </a:solidFill>
                  </a:tcPr>
                </a:tc>
              </a:tr>
              <a:tr h="5524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Conv 2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0124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5 x 5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0124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256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0124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Followed by LRN &amp; Pooling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0124D"/>
                    </a:solidFill>
                  </a:tcPr>
                </a:tc>
              </a:tr>
              <a:tr h="5524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Conv 3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0124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3 x 3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0124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384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0124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Directly connected to Conv 2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0124D"/>
                    </a:solidFill>
                  </a:tcPr>
                </a:tc>
              </a:tr>
              <a:tr h="5524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Conv 4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0124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3 x 3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0124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384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0124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Directly connected to Conv 3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0124D"/>
                    </a:solidFill>
                  </a:tcPr>
                </a:tc>
              </a:tr>
              <a:tr h="5524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Conv 5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0124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3 x 3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0124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256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0124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Followed by Pooling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0124D"/>
                    </a:solidFill>
                  </a:tcPr>
                </a:tc>
              </a:tr>
            </a:tbl>
          </a:graphicData>
        </a:graphic>
      </p:graphicFrame>
      <p:sp>
        <p:nvSpPr>
          <p:cNvPr id="243" name="Google Shape;243;p25"/>
          <p:cNvSpPr/>
          <p:nvPr/>
        </p:nvSpPr>
        <p:spPr>
          <a:xfrm>
            <a:off x="581025" y="3195637"/>
            <a:ext cx="1847998" cy="1905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25"/>
          <p:cNvSpPr/>
          <p:nvPr/>
        </p:nvSpPr>
        <p:spPr>
          <a:xfrm>
            <a:off x="2429023" y="3195637"/>
            <a:ext cx="2412057" cy="1905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25"/>
          <p:cNvSpPr/>
          <p:nvPr/>
        </p:nvSpPr>
        <p:spPr>
          <a:xfrm>
            <a:off x="4841081" y="3195637"/>
            <a:ext cx="1672828" cy="1905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25"/>
          <p:cNvSpPr/>
          <p:nvPr/>
        </p:nvSpPr>
        <p:spPr>
          <a:xfrm>
            <a:off x="6513909" y="3195637"/>
            <a:ext cx="5097065" cy="1905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25"/>
          <p:cNvSpPr/>
          <p:nvPr/>
        </p:nvSpPr>
        <p:spPr>
          <a:xfrm>
            <a:off x="581025" y="3752850"/>
            <a:ext cx="1847998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25"/>
          <p:cNvSpPr/>
          <p:nvPr/>
        </p:nvSpPr>
        <p:spPr>
          <a:xfrm>
            <a:off x="2429023" y="3752850"/>
            <a:ext cx="2412057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25"/>
          <p:cNvSpPr/>
          <p:nvPr/>
        </p:nvSpPr>
        <p:spPr>
          <a:xfrm>
            <a:off x="4841081" y="3752850"/>
            <a:ext cx="1672828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25"/>
          <p:cNvSpPr/>
          <p:nvPr/>
        </p:nvSpPr>
        <p:spPr>
          <a:xfrm>
            <a:off x="6513909" y="3752850"/>
            <a:ext cx="5097065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25"/>
          <p:cNvSpPr/>
          <p:nvPr/>
        </p:nvSpPr>
        <p:spPr>
          <a:xfrm>
            <a:off x="581025" y="4295775"/>
            <a:ext cx="1847998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25"/>
          <p:cNvSpPr/>
          <p:nvPr/>
        </p:nvSpPr>
        <p:spPr>
          <a:xfrm>
            <a:off x="2429023" y="4295775"/>
            <a:ext cx="2412057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25"/>
          <p:cNvSpPr/>
          <p:nvPr/>
        </p:nvSpPr>
        <p:spPr>
          <a:xfrm>
            <a:off x="4841081" y="4295775"/>
            <a:ext cx="1672828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25"/>
          <p:cNvSpPr/>
          <p:nvPr/>
        </p:nvSpPr>
        <p:spPr>
          <a:xfrm>
            <a:off x="6513909" y="4295775"/>
            <a:ext cx="5097065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25"/>
          <p:cNvSpPr/>
          <p:nvPr/>
        </p:nvSpPr>
        <p:spPr>
          <a:xfrm>
            <a:off x="581025" y="4838700"/>
            <a:ext cx="1847998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25"/>
          <p:cNvSpPr/>
          <p:nvPr/>
        </p:nvSpPr>
        <p:spPr>
          <a:xfrm>
            <a:off x="2429023" y="4838700"/>
            <a:ext cx="2412057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25"/>
          <p:cNvSpPr/>
          <p:nvPr/>
        </p:nvSpPr>
        <p:spPr>
          <a:xfrm>
            <a:off x="4841081" y="4838700"/>
            <a:ext cx="1672828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25"/>
          <p:cNvSpPr/>
          <p:nvPr/>
        </p:nvSpPr>
        <p:spPr>
          <a:xfrm>
            <a:off x="6513909" y="4838700"/>
            <a:ext cx="5097065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25"/>
          <p:cNvSpPr/>
          <p:nvPr/>
        </p:nvSpPr>
        <p:spPr>
          <a:xfrm>
            <a:off x="581025" y="5381625"/>
            <a:ext cx="1847998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25"/>
          <p:cNvSpPr/>
          <p:nvPr/>
        </p:nvSpPr>
        <p:spPr>
          <a:xfrm>
            <a:off x="2429023" y="5381625"/>
            <a:ext cx="2412057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25"/>
          <p:cNvSpPr/>
          <p:nvPr/>
        </p:nvSpPr>
        <p:spPr>
          <a:xfrm>
            <a:off x="4841081" y="5381625"/>
            <a:ext cx="1672828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25"/>
          <p:cNvSpPr/>
          <p:nvPr/>
        </p:nvSpPr>
        <p:spPr>
          <a:xfrm>
            <a:off x="6513909" y="5381625"/>
            <a:ext cx="5097065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25"/>
          <p:cNvSpPr txBox="1"/>
          <p:nvPr/>
        </p:nvSpPr>
        <p:spPr>
          <a:xfrm>
            <a:off x="581025" y="581025"/>
            <a:ext cx="11581447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150" u="none" cap="none" strike="noStrike">
                <a:solidFill>
                  <a:srgbClr val="2DD4B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Deep Feature Extraction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68" name="Google Shape;268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9" name="Google Shape;269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2743200"/>
            <a:ext cx="3486150" cy="23526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0" name="Google Shape;270;p2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52925" y="2743200"/>
            <a:ext cx="3486150" cy="23526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1" name="Google Shape;271;p2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24825" y="2743200"/>
            <a:ext cx="3486150" cy="2352675"/>
          </a:xfrm>
          <a:prstGeom prst="rect">
            <a:avLst/>
          </a:prstGeom>
          <a:noFill/>
          <a:ln>
            <a:noFill/>
          </a:ln>
        </p:spPr>
      </p:pic>
      <p:sp>
        <p:nvSpPr>
          <p:cNvPr id="272" name="Google Shape;272;p26"/>
          <p:cNvSpPr txBox="1"/>
          <p:nvPr/>
        </p:nvSpPr>
        <p:spPr>
          <a:xfrm>
            <a:off x="923925" y="3086100"/>
            <a:ext cx="2940367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FC6</a:t>
            </a:r>
            <a:endParaRPr/>
          </a:p>
        </p:txBody>
      </p:sp>
      <p:sp>
        <p:nvSpPr>
          <p:cNvPr id="273" name="Google Shape;273;p26"/>
          <p:cNvSpPr txBox="1"/>
          <p:nvPr/>
        </p:nvSpPr>
        <p:spPr>
          <a:xfrm>
            <a:off x="923925" y="3648075"/>
            <a:ext cx="280035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4096 Neurons. Receives flattened output from Conv5. Uses Dropout.</a:t>
            </a:r>
            <a:endParaRPr/>
          </a:p>
        </p:txBody>
      </p:sp>
      <p:sp>
        <p:nvSpPr>
          <p:cNvPr id="274" name="Google Shape;274;p26"/>
          <p:cNvSpPr txBox="1"/>
          <p:nvPr/>
        </p:nvSpPr>
        <p:spPr>
          <a:xfrm>
            <a:off x="4695825" y="3086100"/>
            <a:ext cx="2940367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FC7</a:t>
            </a:r>
            <a:endParaRPr/>
          </a:p>
        </p:txBody>
      </p:sp>
      <p:sp>
        <p:nvSpPr>
          <p:cNvPr id="275" name="Google Shape;275;p26"/>
          <p:cNvSpPr txBox="1"/>
          <p:nvPr/>
        </p:nvSpPr>
        <p:spPr>
          <a:xfrm>
            <a:off x="4695825" y="3648075"/>
            <a:ext cx="280035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4096 Neurons. High-level conceptual mapping. Uses Dropout.</a:t>
            </a:r>
            <a:endParaRPr/>
          </a:p>
        </p:txBody>
      </p:sp>
      <p:sp>
        <p:nvSpPr>
          <p:cNvPr id="276" name="Google Shape;276;p26"/>
          <p:cNvSpPr txBox="1"/>
          <p:nvPr/>
        </p:nvSpPr>
        <p:spPr>
          <a:xfrm>
            <a:off x="8467725" y="3086100"/>
            <a:ext cx="2940367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FC8 (Output)</a:t>
            </a:r>
            <a:endParaRPr/>
          </a:p>
        </p:txBody>
      </p:sp>
      <p:sp>
        <p:nvSpPr>
          <p:cNvPr id="277" name="Google Shape;277;p26"/>
          <p:cNvSpPr txBox="1"/>
          <p:nvPr/>
        </p:nvSpPr>
        <p:spPr>
          <a:xfrm>
            <a:off x="8467725" y="3648075"/>
            <a:ext cx="280035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1000 Neurons. Softmax output for the 1000 ImageNet classes.</a:t>
            </a:r>
            <a:endParaRPr/>
          </a:p>
        </p:txBody>
      </p:sp>
      <p:sp>
        <p:nvSpPr>
          <p:cNvPr id="278" name="Google Shape;278;p26"/>
          <p:cNvSpPr txBox="1"/>
          <p:nvPr/>
        </p:nvSpPr>
        <p:spPr>
          <a:xfrm>
            <a:off x="581025" y="581025"/>
            <a:ext cx="11581447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150" u="none" cap="none" strike="noStrike">
                <a:solidFill>
                  <a:srgbClr val="2DD4B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The Final Reasoning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83" name="Google Shape;283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84" name="Google Shape;284;p27"/>
          <p:cNvSpPr txBox="1"/>
          <p:nvPr/>
        </p:nvSpPr>
        <p:spPr>
          <a:xfrm>
            <a:off x="581025" y="3090862"/>
            <a:ext cx="5229225" cy="133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0" u="none" cap="none" strike="noStrike">
                <a:solidFill>
                  <a:srgbClr val="2DD4BF"/>
                </a:solidFill>
                <a:latin typeface="Inter"/>
                <a:ea typeface="Inter"/>
                <a:cs typeface="Inter"/>
                <a:sym typeface="Inter"/>
              </a:rPr>
              <a:t>60M</a:t>
            </a:r>
            <a:endParaRPr/>
          </a:p>
        </p:txBody>
      </p:sp>
      <p:sp>
        <p:nvSpPr>
          <p:cNvPr id="285" name="Google Shape;285;p27"/>
          <p:cNvSpPr txBox="1"/>
          <p:nvPr/>
        </p:nvSpPr>
        <p:spPr>
          <a:xfrm>
            <a:off x="581025" y="4424362"/>
            <a:ext cx="5229225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94A3B8"/>
                </a:solidFill>
                <a:latin typeface="Inter Medium"/>
                <a:ea typeface="Inter Medium"/>
                <a:cs typeface="Inter Medium"/>
                <a:sym typeface="Inter Medium"/>
              </a:rPr>
              <a:t>Trainable Parameters</a:t>
            </a:r>
            <a:endParaRPr/>
          </a:p>
        </p:txBody>
      </p:sp>
      <p:sp>
        <p:nvSpPr>
          <p:cNvPr id="286" name="Google Shape;286;p27"/>
          <p:cNvSpPr txBox="1"/>
          <p:nvPr/>
        </p:nvSpPr>
        <p:spPr>
          <a:xfrm>
            <a:off x="6762750" y="3181350"/>
            <a:ext cx="48482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Most parameters reside in the FC layers.</a:t>
            </a:r>
            <a:endParaRPr/>
          </a:p>
        </p:txBody>
      </p:sp>
      <p:sp>
        <p:nvSpPr>
          <p:cNvPr id="287" name="Google Shape;287;p27"/>
          <p:cNvSpPr txBox="1"/>
          <p:nvPr/>
        </p:nvSpPr>
        <p:spPr>
          <a:xfrm>
            <a:off x="6762750" y="3724275"/>
            <a:ext cx="48482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Requires roughly </a:t>
            </a:r>
            <a:r>
              <a:rPr b="1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650,000 neurons</a:t>
            </a: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/>
          </a:p>
        </p:txBody>
      </p:sp>
      <p:sp>
        <p:nvSpPr>
          <p:cNvPr id="288" name="Google Shape;288;p27"/>
          <p:cNvSpPr txBox="1"/>
          <p:nvPr/>
        </p:nvSpPr>
        <p:spPr>
          <a:xfrm>
            <a:off x="6762750" y="4267200"/>
            <a:ext cx="48482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Computational load was immense for 2012 hardware.</a:t>
            </a:r>
            <a:endParaRPr/>
          </a:p>
        </p:txBody>
      </p:sp>
      <p:sp>
        <p:nvSpPr>
          <p:cNvPr id="289" name="Google Shape;289;p27"/>
          <p:cNvSpPr txBox="1"/>
          <p:nvPr/>
        </p:nvSpPr>
        <p:spPr>
          <a:xfrm>
            <a:off x="581025" y="581025"/>
            <a:ext cx="11581447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150" u="none" cap="none" strike="noStrike">
                <a:solidFill>
                  <a:srgbClr val="2DD4B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Total Complexity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94" name="Google Shape;294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95" name="Google Shape;295;p28"/>
          <p:cNvSpPr txBox="1"/>
          <p:nvPr/>
        </p:nvSpPr>
        <p:spPr>
          <a:xfrm>
            <a:off x="581025" y="1795462"/>
            <a:ext cx="5190648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150" u="none" cap="none" strike="noStrike">
                <a:solidFill>
                  <a:srgbClr val="2DD4B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What the Model Sees</a:t>
            </a:r>
            <a:endParaRPr/>
          </a:p>
        </p:txBody>
      </p:sp>
      <p:sp>
        <p:nvSpPr>
          <p:cNvPr id="296" name="Google Shape;296;p28"/>
          <p:cNvSpPr txBox="1"/>
          <p:nvPr/>
        </p:nvSpPr>
        <p:spPr>
          <a:xfrm>
            <a:off x="581025" y="2967037"/>
            <a:ext cx="494347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The first layer filters learn color blobs and frequency-orientation edges.</a:t>
            </a:r>
            <a:endParaRPr/>
          </a:p>
        </p:txBody>
      </p:sp>
      <p:sp>
        <p:nvSpPr>
          <p:cNvPr id="297" name="Google Shape;297;p28"/>
          <p:cNvSpPr txBox="1"/>
          <p:nvPr/>
        </p:nvSpPr>
        <p:spPr>
          <a:xfrm>
            <a:off x="581025" y="3957637"/>
            <a:ext cx="4943475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By visualizing these filters, we see that GPU 1 focused on color-agnostic edges, while GPU 2 focused on color-sensitive patterns.</a:t>
            </a:r>
            <a:endParaRPr/>
          </a:p>
        </p:txBody>
      </p:sp>
      <p:pic>
        <p:nvPicPr>
          <p:cNvPr id="298" name="Google Shape;298;p2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71675" y="2047150"/>
            <a:ext cx="6152650" cy="3094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03" name="Google Shape;303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04" name="Google Shape;304;p2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1562100"/>
            <a:ext cx="11029950" cy="4714875"/>
          </a:xfrm>
          <a:prstGeom prst="rect">
            <a:avLst/>
          </a:prstGeom>
          <a:noFill/>
          <a:ln>
            <a:noFill/>
          </a:ln>
        </p:spPr>
      </p:pic>
      <p:sp>
        <p:nvSpPr>
          <p:cNvPr id="305" name="Google Shape;305;p29"/>
          <p:cNvSpPr txBox="1"/>
          <p:nvPr/>
        </p:nvSpPr>
        <p:spPr>
          <a:xfrm>
            <a:off x="581025" y="4624387"/>
            <a:ext cx="110299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AlexNet won by an unprecedented margin of 10.8% over the runner-up.</a:t>
            </a:r>
            <a:endParaRPr/>
          </a:p>
        </p:txBody>
      </p:sp>
      <p:sp>
        <p:nvSpPr>
          <p:cNvPr id="306" name="Google Shape;306;p29"/>
          <p:cNvSpPr txBox="1"/>
          <p:nvPr/>
        </p:nvSpPr>
        <p:spPr>
          <a:xfrm>
            <a:off x="581025" y="581025"/>
            <a:ext cx="11581447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150" u="none" cap="none" strike="noStrike">
                <a:solidFill>
                  <a:srgbClr val="2DD4B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ILSVRC 2012 Results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11" name="Google Shape;311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12" name="Google Shape;312;p3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2014537"/>
            <a:ext cx="522922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313" name="Google Shape;313;p30"/>
          <p:cNvSpPr txBox="1"/>
          <p:nvPr/>
        </p:nvSpPr>
        <p:spPr>
          <a:xfrm>
            <a:off x="6381750" y="2466975"/>
            <a:ext cx="5490686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Key Differences:</a:t>
            </a:r>
            <a:endParaRPr/>
          </a:p>
        </p:txBody>
      </p:sp>
      <p:sp>
        <p:nvSpPr>
          <p:cNvPr id="314" name="Google Shape;314;p30"/>
          <p:cNvSpPr txBox="1"/>
          <p:nvPr/>
        </p:nvSpPr>
        <p:spPr>
          <a:xfrm>
            <a:off x="6762750" y="2895600"/>
            <a:ext cx="48482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Scale:</a:t>
            </a: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AlexNet is much deeper and wider.</a:t>
            </a:r>
            <a:endParaRPr/>
          </a:p>
        </p:txBody>
      </p:sp>
      <p:sp>
        <p:nvSpPr>
          <p:cNvPr id="315" name="Google Shape;315;p30"/>
          <p:cNvSpPr txBox="1"/>
          <p:nvPr/>
        </p:nvSpPr>
        <p:spPr>
          <a:xfrm>
            <a:off x="6762750" y="3438525"/>
            <a:ext cx="484822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Nonlinearity:</a:t>
            </a: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Tanh/Sigmoid (LeNet) vs ReLU (AlexNet).</a:t>
            </a:r>
            <a:endParaRPr/>
          </a:p>
        </p:txBody>
      </p:sp>
      <p:sp>
        <p:nvSpPr>
          <p:cNvPr id="316" name="Google Shape;316;p30"/>
          <p:cNvSpPr txBox="1"/>
          <p:nvPr/>
        </p:nvSpPr>
        <p:spPr>
          <a:xfrm>
            <a:off x="6762750" y="4286250"/>
            <a:ext cx="48482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Regularization:</a:t>
            </a: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AlexNet introduced Dropout.</a:t>
            </a:r>
            <a:endParaRPr/>
          </a:p>
        </p:txBody>
      </p:sp>
      <p:sp>
        <p:nvSpPr>
          <p:cNvPr id="317" name="Google Shape;317;p30"/>
          <p:cNvSpPr txBox="1"/>
          <p:nvPr/>
        </p:nvSpPr>
        <p:spPr>
          <a:xfrm>
            <a:off x="6762750" y="4829175"/>
            <a:ext cx="48482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Hardware:</a:t>
            </a: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CPU (LeNet) vs GPU (AlexNet).</a:t>
            </a:r>
            <a:endParaRPr/>
          </a:p>
        </p:txBody>
      </p:sp>
      <p:sp>
        <p:nvSpPr>
          <p:cNvPr id="318" name="Google Shape;318;p30"/>
          <p:cNvSpPr txBox="1"/>
          <p:nvPr/>
        </p:nvSpPr>
        <p:spPr>
          <a:xfrm>
            <a:off x="581025" y="581025"/>
            <a:ext cx="11581447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150" u="none" cap="none" strike="noStrike">
                <a:solidFill>
                  <a:srgbClr val="2DD4B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Evolution: LeNet vs AlexNet</a:t>
            </a:r>
            <a:endParaRPr/>
          </a:p>
        </p:txBody>
      </p:sp>
      <p:pic>
        <p:nvPicPr>
          <p:cNvPr id="319" name="Google Shape;319;p3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09512" y="2014525"/>
            <a:ext cx="5572242" cy="3810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24" name="Google Shape;324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25" name="Google Shape;325;p3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2262187"/>
            <a:ext cx="3486150" cy="3314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26" name="Google Shape;326;p3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52925" y="2262187"/>
            <a:ext cx="3486150" cy="3314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27" name="Google Shape;327;p3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24825" y="2262187"/>
            <a:ext cx="3486150" cy="3314700"/>
          </a:xfrm>
          <a:prstGeom prst="rect">
            <a:avLst/>
          </a:prstGeom>
          <a:noFill/>
          <a:ln>
            <a:noFill/>
          </a:ln>
        </p:spPr>
      </p:pic>
      <p:sp>
        <p:nvSpPr>
          <p:cNvPr id="328" name="Google Shape;328;p31"/>
          <p:cNvSpPr txBox="1"/>
          <p:nvPr/>
        </p:nvSpPr>
        <p:spPr>
          <a:xfrm>
            <a:off x="923925" y="3262312"/>
            <a:ext cx="2940367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Computational Cost</a:t>
            </a:r>
            <a:endParaRPr/>
          </a:p>
        </p:txBody>
      </p:sp>
      <p:sp>
        <p:nvSpPr>
          <p:cNvPr id="329" name="Google Shape;329;p31"/>
          <p:cNvSpPr txBox="1"/>
          <p:nvPr/>
        </p:nvSpPr>
        <p:spPr>
          <a:xfrm>
            <a:off x="923925" y="3824287"/>
            <a:ext cx="280035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Extremely heavy for mobile or edge deployment. Modern models like MobileNet are 50x smaller.</a:t>
            </a:r>
            <a:endParaRPr/>
          </a:p>
        </p:txBody>
      </p:sp>
      <p:sp>
        <p:nvSpPr>
          <p:cNvPr id="330" name="Google Shape;330;p31"/>
          <p:cNvSpPr txBox="1"/>
          <p:nvPr/>
        </p:nvSpPr>
        <p:spPr>
          <a:xfrm>
            <a:off x="4695825" y="3262312"/>
            <a:ext cx="2940367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Kernel Size</a:t>
            </a:r>
            <a:endParaRPr/>
          </a:p>
        </p:txBody>
      </p:sp>
      <p:sp>
        <p:nvSpPr>
          <p:cNvPr id="331" name="Google Shape;331;p31"/>
          <p:cNvSpPr txBox="1"/>
          <p:nvPr/>
        </p:nvSpPr>
        <p:spPr>
          <a:xfrm>
            <a:off x="4695825" y="3824287"/>
            <a:ext cx="280035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11x11 kernels are computationally expensive and were replaced by stacked 3x3 kernels in VGGNet.</a:t>
            </a:r>
            <a:endParaRPr/>
          </a:p>
        </p:txBody>
      </p:sp>
      <p:sp>
        <p:nvSpPr>
          <p:cNvPr id="332" name="Google Shape;332;p31"/>
          <p:cNvSpPr txBox="1"/>
          <p:nvPr/>
        </p:nvSpPr>
        <p:spPr>
          <a:xfrm>
            <a:off x="8467725" y="3262312"/>
            <a:ext cx="2940367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Bias</a:t>
            </a:r>
            <a:endParaRPr/>
          </a:p>
        </p:txBody>
      </p:sp>
      <p:sp>
        <p:nvSpPr>
          <p:cNvPr id="333" name="Google Shape;333;p31"/>
          <p:cNvSpPr txBox="1"/>
          <p:nvPr/>
        </p:nvSpPr>
        <p:spPr>
          <a:xfrm>
            <a:off x="8467725" y="3824287"/>
            <a:ext cx="280035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Trained on ImageNet, which in 2012 had geographic and Western-centric biases in labels.</a:t>
            </a:r>
            <a:endParaRPr/>
          </a:p>
        </p:txBody>
      </p:sp>
      <p:pic>
        <p:nvPicPr>
          <p:cNvPr descr="image.png" id="334" name="Google Shape;334;p3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23925" y="2643187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35" name="Google Shape;335;p31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695825" y="2643187"/>
            <a:ext cx="428625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36" name="Google Shape;336;p31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467725" y="2643187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337" name="Google Shape;337;p31"/>
          <p:cNvSpPr txBox="1"/>
          <p:nvPr/>
        </p:nvSpPr>
        <p:spPr>
          <a:xfrm>
            <a:off x="581025" y="581025"/>
            <a:ext cx="11581447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150" u="none" cap="none" strike="noStrike">
                <a:solidFill>
                  <a:srgbClr val="2DD4B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Limitations &amp; Failure Cases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42" name="Google Shape;342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43" name="Google Shape;343;p3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2743200"/>
            <a:ext cx="5229225" cy="2352675"/>
          </a:xfrm>
          <a:prstGeom prst="rect">
            <a:avLst/>
          </a:prstGeom>
          <a:noFill/>
          <a:ln>
            <a:noFill/>
          </a:ln>
        </p:spPr>
      </p:pic>
      <p:sp>
        <p:nvSpPr>
          <p:cNvPr id="344" name="Google Shape;344;p32"/>
          <p:cNvSpPr txBox="1"/>
          <p:nvPr/>
        </p:nvSpPr>
        <p:spPr>
          <a:xfrm>
            <a:off x="581025" y="2647950"/>
            <a:ext cx="522922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While AlexNet proved the depth concept, </a:t>
            </a:r>
            <a:r>
              <a:rPr b="1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VGGNet (2014)</a:t>
            </a: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refined it by:</a:t>
            </a:r>
            <a:endParaRPr/>
          </a:p>
        </p:txBody>
      </p:sp>
      <p:sp>
        <p:nvSpPr>
          <p:cNvPr id="345" name="Google Shape;345;p32"/>
          <p:cNvSpPr txBox="1"/>
          <p:nvPr/>
        </p:nvSpPr>
        <p:spPr>
          <a:xfrm>
            <a:off x="6724650" y="3086100"/>
            <a:ext cx="4770596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2DD4BF"/>
                </a:solidFill>
                <a:latin typeface="Poppins"/>
                <a:ea typeface="Poppins"/>
                <a:cs typeface="Poppins"/>
                <a:sym typeface="Poppins"/>
              </a:rPr>
              <a:t>The Verdict</a:t>
            </a:r>
            <a:endParaRPr/>
          </a:p>
        </p:txBody>
      </p:sp>
      <p:sp>
        <p:nvSpPr>
          <p:cNvPr id="346" name="Google Shape;346;p32"/>
          <p:cNvSpPr txBox="1"/>
          <p:nvPr/>
        </p:nvSpPr>
        <p:spPr>
          <a:xfrm>
            <a:off x="6724650" y="3648075"/>
            <a:ext cx="4543425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AlexNet is the "Dinosaur" of Deep Learning—massive, powerful, but eventually evolved into sleeker, more efficient forms.</a:t>
            </a:r>
            <a:endParaRPr/>
          </a:p>
        </p:txBody>
      </p:sp>
      <p:sp>
        <p:nvSpPr>
          <p:cNvPr id="347" name="Google Shape;347;p32"/>
          <p:cNvSpPr txBox="1"/>
          <p:nvPr/>
        </p:nvSpPr>
        <p:spPr>
          <a:xfrm>
            <a:off x="962025" y="3448050"/>
            <a:ext cx="48482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Using only </a:t>
            </a:r>
            <a:r>
              <a:rPr b="1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3x3 convolution</a:t>
            </a: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filters.</a:t>
            </a:r>
            <a:endParaRPr/>
          </a:p>
        </p:txBody>
      </p:sp>
      <p:sp>
        <p:nvSpPr>
          <p:cNvPr id="348" name="Google Shape;348;p32"/>
          <p:cNvSpPr txBox="1"/>
          <p:nvPr/>
        </p:nvSpPr>
        <p:spPr>
          <a:xfrm>
            <a:off x="962025" y="3990975"/>
            <a:ext cx="48482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Increasing depth to 16-19 layers.</a:t>
            </a:r>
            <a:endParaRPr/>
          </a:p>
        </p:txBody>
      </p:sp>
      <p:sp>
        <p:nvSpPr>
          <p:cNvPr id="349" name="Google Shape;349;p32"/>
          <p:cNvSpPr txBox="1"/>
          <p:nvPr/>
        </p:nvSpPr>
        <p:spPr>
          <a:xfrm>
            <a:off x="962025" y="4533900"/>
            <a:ext cx="484822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Proving that smaller kernels with more depth are more efficient.</a:t>
            </a:r>
            <a:endParaRPr/>
          </a:p>
        </p:txBody>
      </p:sp>
      <p:sp>
        <p:nvSpPr>
          <p:cNvPr id="350" name="Google Shape;350;p32"/>
          <p:cNvSpPr txBox="1"/>
          <p:nvPr/>
        </p:nvSpPr>
        <p:spPr>
          <a:xfrm>
            <a:off x="581025" y="581025"/>
            <a:ext cx="11581447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150" u="none" cap="none" strike="noStrike">
                <a:solidFill>
                  <a:srgbClr val="2DD4B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What Came Next? (VGGNet)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55" name="Google Shape;355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56" name="Google Shape;356;p33"/>
          <p:cNvSpPr txBox="1"/>
          <p:nvPr/>
        </p:nvSpPr>
        <p:spPr>
          <a:xfrm>
            <a:off x="1724025" y="2095500"/>
            <a:ext cx="8743950" cy="1400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30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Deep learning is not just about big data, it's about the convergence of data, algorithms, and computational power. </a:t>
            </a:r>
            <a:endParaRPr/>
          </a:p>
        </p:txBody>
      </p:sp>
      <p:sp>
        <p:nvSpPr>
          <p:cNvPr id="357" name="Google Shape;357;p33"/>
          <p:cNvSpPr txBox="1"/>
          <p:nvPr/>
        </p:nvSpPr>
        <p:spPr>
          <a:xfrm>
            <a:off x="962025" y="1714500"/>
            <a:ext cx="419100" cy="1152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7500" u="none" cap="none" strike="noStrike">
                <a:solidFill>
                  <a:srgbClr val="2DD4BF"/>
                </a:solidFill>
                <a:latin typeface="Inter"/>
                <a:ea typeface="Inter"/>
                <a:cs typeface="Inter"/>
                <a:sym typeface="Inter"/>
              </a:rPr>
              <a:t>“</a:t>
            </a:r>
            <a:endParaRPr/>
          </a:p>
        </p:txBody>
      </p:sp>
      <p:sp>
        <p:nvSpPr>
          <p:cNvPr id="358" name="Google Shape;358;p33"/>
          <p:cNvSpPr txBox="1"/>
          <p:nvPr/>
        </p:nvSpPr>
        <p:spPr>
          <a:xfrm>
            <a:off x="305276" y="3876675"/>
            <a:ext cx="11581447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Conclusion</a:t>
            </a:r>
            <a:endParaRPr/>
          </a:p>
        </p:txBody>
      </p:sp>
      <p:sp>
        <p:nvSpPr>
          <p:cNvPr id="359" name="Google Shape;359;p33"/>
          <p:cNvSpPr txBox="1"/>
          <p:nvPr/>
        </p:nvSpPr>
        <p:spPr>
          <a:xfrm>
            <a:off x="581025" y="4343400"/>
            <a:ext cx="110299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AlexNet was the spark. It didn't just win a competition; it changed the trajectory of human technology, leading to self-driving cars, medical AI, and LLMs.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64" name="Google Shape;364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65" name="Google Shape;365;p34"/>
          <p:cNvSpPr txBox="1"/>
          <p:nvPr/>
        </p:nvSpPr>
        <p:spPr>
          <a:xfrm>
            <a:off x="3855719" y="2335559"/>
            <a:ext cx="4480560" cy="7542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400" u="none" cap="none" strike="noStrike">
                <a:solidFill>
                  <a:srgbClr val="2DD4BF"/>
                </a:solidFill>
                <a:latin typeface="Poppins"/>
                <a:ea typeface="Poppins"/>
                <a:cs typeface="Poppins"/>
                <a:sym typeface="Poppins"/>
              </a:rPr>
              <a:t>QUESTIONS?</a:t>
            </a:r>
            <a:endParaRPr/>
          </a:p>
        </p:txBody>
      </p:sp>
      <p:sp>
        <p:nvSpPr>
          <p:cNvPr id="366" name="Google Shape;366;p34"/>
          <p:cNvSpPr txBox="1"/>
          <p:nvPr/>
        </p:nvSpPr>
        <p:spPr>
          <a:xfrm>
            <a:off x="3962400" y="3280320"/>
            <a:ext cx="4267200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Artificial Neural Networks Project</a:t>
            </a:r>
            <a:endParaRPr/>
          </a:p>
        </p:txBody>
      </p:sp>
      <p:sp>
        <p:nvSpPr>
          <p:cNvPr id="367" name="Google Shape;367;p34"/>
          <p:cNvSpPr txBox="1"/>
          <p:nvPr/>
        </p:nvSpPr>
        <p:spPr>
          <a:xfrm>
            <a:off x="3962400" y="4026991"/>
            <a:ext cx="42672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Thank you for your attention.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72" name="Google Shape;372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73" name="Google Shape;373;p35"/>
          <p:cNvSpPr/>
          <p:nvPr/>
        </p:nvSpPr>
        <p:spPr>
          <a:xfrm>
            <a:off x="581025" y="1471017"/>
            <a:ext cx="11029950" cy="9828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" name="Google Shape;374;p35"/>
          <p:cNvSpPr/>
          <p:nvPr/>
        </p:nvSpPr>
        <p:spPr>
          <a:xfrm>
            <a:off x="581025" y="2453878"/>
            <a:ext cx="11029950" cy="784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" name="Google Shape;375;p35"/>
          <p:cNvSpPr/>
          <p:nvPr/>
        </p:nvSpPr>
        <p:spPr>
          <a:xfrm>
            <a:off x="581025" y="3238648"/>
            <a:ext cx="11029950" cy="784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6" name="Google Shape;376;p35"/>
          <p:cNvSpPr/>
          <p:nvPr/>
        </p:nvSpPr>
        <p:spPr>
          <a:xfrm>
            <a:off x="581025" y="4023419"/>
            <a:ext cx="11029950" cy="784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7" name="Google Shape;377;p35"/>
          <p:cNvSpPr/>
          <p:nvPr/>
        </p:nvSpPr>
        <p:spPr>
          <a:xfrm>
            <a:off x="581025" y="4808190"/>
            <a:ext cx="11029950" cy="784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8" name="Google Shape;378;p35"/>
          <p:cNvSpPr/>
          <p:nvPr/>
        </p:nvSpPr>
        <p:spPr>
          <a:xfrm>
            <a:off x="581025" y="2444353"/>
            <a:ext cx="1102995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9" name="Google Shape;379;p35"/>
          <p:cNvSpPr/>
          <p:nvPr/>
        </p:nvSpPr>
        <p:spPr>
          <a:xfrm>
            <a:off x="581025" y="2444353"/>
            <a:ext cx="1102995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" name="Google Shape;380;p35"/>
          <p:cNvSpPr/>
          <p:nvPr/>
        </p:nvSpPr>
        <p:spPr>
          <a:xfrm>
            <a:off x="581025" y="3229123"/>
            <a:ext cx="1102995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1" name="Google Shape;381;p35"/>
          <p:cNvSpPr/>
          <p:nvPr/>
        </p:nvSpPr>
        <p:spPr>
          <a:xfrm>
            <a:off x="581025" y="3229123"/>
            <a:ext cx="1102995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2" name="Google Shape;382;p35"/>
          <p:cNvSpPr/>
          <p:nvPr/>
        </p:nvSpPr>
        <p:spPr>
          <a:xfrm>
            <a:off x="581025" y="4013894"/>
            <a:ext cx="1102995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" name="Google Shape;383;p35"/>
          <p:cNvSpPr/>
          <p:nvPr/>
        </p:nvSpPr>
        <p:spPr>
          <a:xfrm>
            <a:off x="581025" y="4013894"/>
            <a:ext cx="1102995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" name="Google Shape;384;p35"/>
          <p:cNvSpPr/>
          <p:nvPr/>
        </p:nvSpPr>
        <p:spPr>
          <a:xfrm>
            <a:off x="581025" y="4798665"/>
            <a:ext cx="1102995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5" name="Google Shape;385;p35"/>
          <p:cNvSpPr/>
          <p:nvPr/>
        </p:nvSpPr>
        <p:spPr>
          <a:xfrm>
            <a:off x="581025" y="4798665"/>
            <a:ext cx="1102995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6" name="Google Shape;386;p35"/>
          <p:cNvSpPr/>
          <p:nvPr/>
        </p:nvSpPr>
        <p:spPr>
          <a:xfrm>
            <a:off x="581025" y="5583435"/>
            <a:ext cx="1102995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7" name="Google Shape;387;p35"/>
          <p:cNvSpPr/>
          <p:nvPr/>
        </p:nvSpPr>
        <p:spPr>
          <a:xfrm>
            <a:off x="581025" y="5583435"/>
            <a:ext cx="1102995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8" name="Google Shape;388;p35"/>
          <p:cNvSpPr txBox="1"/>
          <p:nvPr/>
        </p:nvSpPr>
        <p:spPr>
          <a:xfrm>
            <a:off x="1676400" y="1613892"/>
            <a:ext cx="9934575" cy="396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https://www.zdnet.com/a/img/resize/cbdfcc9ffe02c07ec17d656be49e670a55e467ec/2025/03/20/1fff3c66-1148-433b-859b-e53ca710522c/u-of-toronto-2013-hinton-krizhevsky-sutskever.jpg?auto=webp&amp;width=1280</a:t>
            </a:r>
            <a:endParaRPr/>
          </a:p>
        </p:txBody>
      </p:sp>
      <p:sp>
        <p:nvSpPr>
          <p:cNvPr id="389" name="Google Shape;389;p35"/>
          <p:cNvSpPr txBox="1"/>
          <p:nvPr/>
        </p:nvSpPr>
        <p:spPr>
          <a:xfrm>
            <a:off x="1676400" y="2057697"/>
            <a:ext cx="993457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www.zdnet.com</a:t>
            </a:r>
            <a:endParaRPr/>
          </a:p>
        </p:txBody>
      </p:sp>
      <p:sp>
        <p:nvSpPr>
          <p:cNvPr id="390" name="Google Shape;390;p35"/>
          <p:cNvSpPr txBox="1"/>
          <p:nvPr/>
        </p:nvSpPr>
        <p:spPr>
          <a:xfrm>
            <a:off x="1676400" y="2596753"/>
            <a:ext cx="9934575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https://upload.wikimedia.org/wikipedia/commons/a/ad/AlexNet_block_diagram.svg</a:t>
            </a:r>
            <a:endParaRPr/>
          </a:p>
        </p:txBody>
      </p:sp>
      <p:sp>
        <p:nvSpPr>
          <p:cNvPr id="391" name="Google Shape;391;p35"/>
          <p:cNvSpPr txBox="1"/>
          <p:nvPr/>
        </p:nvSpPr>
        <p:spPr>
          <a:xfrm>
            <a:off x="1676400" y="2842468"/>
            <a:ext cx="993457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en.wikipedia.org</a:t>
            </a:r>
            <a:endParaRPr/>
          </a:p>
        </p:txBody>
      </p:sp>
      <p:sp>
        <p:nvSpPr>
          <p:cNvPr id="392" name="Google Shape;392;p35"/>
          <p:cNvSpPr txBox="1"/>
          <p:nvPr/>
        </p:nvSpPr>
        <p:spPr>
          <a:xfrm>
            <a:off x="1676400" y="3381523"/>
            <a:ext cx="9934575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https://miro.medium.com/1*aEVZlqkcakVySV6ETqgfEg.png</a:t>
            </a:r>
            <a:endParaRPr/>
          </a:p>
        </p:txBody>
      </p:sp>
      <p:sp>
        <p:nvSpPr>
          <p:cNvPr id="393" name="Google Shape;393;p35"/>
          <p:cNvSpPr txBox="1"/>
          <p:nvPr/>
        </p:nvSpPr>
        <p:spPr>
          <a:xfrm>
            <a:off x="1676400" y="3627239"/>
            <a:ext cx="993457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medium.com</a:t>
            </a:r>
            <a:endParaRPr/>
          </a:p>
        </p:txBody>
      </p:sp>
      <p:sp>
        <p:nvSpPr>
          <p:cNvPr id="394" name="Google Shape;394;p35"/>
          <p:cNvSpPr txBox="1"/>
          <p:nvPr/>
        </p:nvSpPr>
        <p:spPr>
          <a:xfrm>
            <a:off x="1676400" y="4166294"/>
            <a:ext cx="9934575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https://cdn.mos.cms.futurecdn.net/SeFR7XjGGqt3DeeARQcBRb.jpg</a:t>
            </a:r>
            <a:endParaRPr/>
          </a:p>
        </p:txBody>
      </p:sp>
      <p:sp>
        <p:nvSpPr>
          <p:cNvPr id="395" name="Google Shape;395;p35"/>
          <p:cNvSpPr txBox="1"/>
          <p:nvPr/>
        </p:nvSpPr>
        <p:spPr>
          <a:xfrm>
            <a:off x="1676400" y="4412009"/>
            <a:ext cx="993457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www.tomshardware.com</a:t>
            </a:r>
            <a:endParaRPr/>
          </a:p>
        </p:txBody>
      </p:sp>
      <p:sp>
        <p:nvSpPr>
          <p:cNvPr id="396" name="Google Shape;396;p35"/>
          <p:cNvSpPr txBox="1"/>
          <p:nvPr/>
        </p:nvSpPr>
        <p:spPr>
          <a:xfrm>
            <a:off x="1676400" y="4951065"/>
            <a:ext cx="9934575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https://cdn.zaka.ai/files/2022/05/14145352/0-5h1EGGqtvyZujTSl.jpg</a:t>
            </a:r>
            <a:endParaRPr/>
          </a:p>
        </p:txBody>
      </p:sp>
      <p:sp>
        <p:nvSpPr>
          <p:cNvPr id="397" name="Google Shape;397;p35"/>
          <p:cNvSpPr txBox="1"/>
          <p:nvPr/>
        </p:nvSpPr>
        <p:spPr>
          <a:xfrm>
            <a:off x="1676400" y="5196780"/>
            <a:ext cx="993457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zaka.ai</a:t>
            </a:r>
            <a:endParaRPr/>
          </a:p>
        </p:txBody>
      </p:sp>
      <p:sp>
        <p:nvSpPr>
          <p:cNvPr id="398" name="Google Shape;398;p35"/>
          <p:cNvSpPr txBox="1"/>
          <p:nvPr/>
        </p:nvSpPr>
        <p:spPr>
          <a:xfrm>
            <a:off x="1676400" y="5735835"/>
            <a:ext cx="9934575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https://machinelearningmastery.com/wp-content/uploads/2019/01/Plot-of-Augmented-Images-with-a-Horizontal-Flip.png</a:t>
            </a:r>
            <a:endParaRPr/>
          </a:p>
        </p:txBody>
      </p:sp>
      <p:sp>
        <p:nvSpPr>
          <p:cNvPr id="399" name="Google Shape;399;p35"/>
          <p:cNvSpPr txBox="1"/>
          <p:nvPr/>
        </p:nvSpPr>
        <p:spPr>
          <a:xfrm>
            <a:off x="1676400" y="5981551"/>
            <a:ext cx="993457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machinelearningmastery.com</a:t>
            </a:r>
            <a:endParaRPr/>
          </a:p>
        </p:txBody>
      </p:sp>
      <p:sp>
        <p:nvSpPr>
          <p:cNvPr id="400" name="Google Shape;400;p35"/>
          <p:cNvSpPr txBox="1"/>
          <p:nvPr/>
        </p:nvSpPr>
        <p:spPr>
          <a:xfrm>
            <a:off x="581025" y="489942"/>
            <a:ext cx="11581447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150" u="none" cap="none" strike="noStrike">
                <a:solidFill>
                  <a:srgbClr val="2DD4B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Image Sources</a:t>
            </a:r>
            <a:endParaRPr/>
          </a:p>
        </p:txBody>
      </p:sp>
      <p:pic>
        <p:nvPicPr>
          <p:cNvPr id="401" name="Google Shape;401;p3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81025" y="1694562"/>
            <a:ext cx="952500" cy="535780"/>
          </a:xfrm>
          <a:prstGeom prst="rect">
            <a:avLst/>
          </a:prstGeom>
          <a:noFill/>
          <a:ln>
            <a:noFill/>
          </a:ln>
        </p:spPr>
      </p:pic>
      <p:pic>
        <p:nvPicPr>
          <p:cNvPr id="402" name="Google Shape;402;p3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55753" y="2536697"/>
            <a:ext cx="403046" cy="609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03" name="Google Shape;403;p3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65823" y="3428188"/>
            <a:ext cx="982915" cy="396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04" name="Google Shape;404;p35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65812" y="4132360"/>
            <a:ext cx="982926" cy="557392"/>
          </a:xfrm>
          <a:prstGeom prst="rect">
            <a:avLst/>
          </a:prstGeom>
          <a:noFill/>
          <a:ln>
            <a:noFill/>
          </a:ln>
        </p:spPr>
      </p:pic>
      <p:pic>
        <p:nvPicPr>
          <p:cNvPr id="405" name="Google Shape;405;p35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574049" y="4997725"/>
            <a:ext cx="966425" cy="396176"/>
          </a:xfrm>
          <a:prstGeom prst="rect">
            <a:avLst/>
          </a:prstGeom>
          <a:noFill/>
          <a:ln>
            <a:noFill/>
          </a:ln>
        </p:spPr>
      </p:pic>
      <p:pic>
        <p:nvPicPr>
          <p:cNvPr id="406" name="Google Shape;406;p35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393158" y="5711400"/>
            <a:ext cx="1140371" cy="784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410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411" name="Google Shape;411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98088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12" name="Google Shape;412;p36"/>
          <p:cNvSpPr/>
          <p:nvPr/>
        </p:nvSpPr>
        <p:spPr>
          <a:xfrm>
            <a:off x="581025" y="2747069"/>
            <a:ext cx="11029950" cy="784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3" name="Google Shape;413;p36"/>
          <p:cNvSpPr/>
          <p:nvPr/>
        </p:nvSpPr>
        <p:spPr>
          <a:xfrm>
            <a:off x="581025" y="3531840"/>
            <a:ext cx="11029950" cy="784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4" name="Google Shape;414;p36"/>
          <p:cNvSpPr/>
          <p:nvPr/>
        </p:nvSpPr>
        <p:spPr>
          <a:xfrm>
            <a:off x="581025" y="3522315"/>
            <a:ext cx="1102995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5" name="Google Shape;415;p36"/>
          <p:cNvSpPr/>
          <p:nvPr/>
        </p:nvSpPr>
        <p:spPr>
          <a:xfrm>
            <a:off x="581025" y="3522315"/>
            <a:ext cx="1102995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6" name="Google Shape;416;p36"/>
          <p:cNvSpPr/>
          <p:nvPr/>
        </p:nvSpPr>
        <p:spPr>
          <a:xfrm>
            <a:off x="581025" y="4307085"/>
            <a:ext cx="1102995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7" name="Google Shape;417;p36"/>
          <p:cNvSpPr/>
          <p:nvPr/>
        </p:nvSpPr>
        <p:spPr>
          <a:xfrm>
            <a:off x="581025" y="4307085"/>
            <a:ext cx="1102995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8" name="Google Shape;418;p36"/>
          <p:cNvSpPr txBox="1"/>
          <p:nvPr/>
        </p:nvSpPr>
        <p:spPr>
          <a:xfrm>
            <a:off x="1676400" y="2889944"/>
            <a:ext cx="9934575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https://media.geeksforgeeks.org/wp-content/uploads/20240702144440/Neural-Networks-with-Dropout-for-Effective-Regularization.webp</a:t>
            </a:r>
            <a:endParaRPr/>
          </a:p>
        </p:txBody>
      </p:sp>
      <p:sp>
        <p:nvSpPr>
          <p:cNvPr id="419" name="Google Shape;419;p36"/>
          <p:cNvSpPr txBox="1"/>
          <p:nvPr/>
        </p:nvSpPr>
        <p:spPr>
          <a:xfrm>
            <a:off x="1676400" y="3135659"/>
            <a:ext cx="993457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www.geeksforgeeks.org</a:t>
            </a:r>
            <a:endParaRPr/>
          </a:p>
        </p:txBody>
      </p:sp>
      <p:sp>
        <p:nvSpPr>
          <p:cNvPr id="420" name="Google Shape;420;p36"/>
          <p:cNvSpPr txBox="1"/>
          <p:nvPr/>
        </p:nvSpPr>
        <p:spPr>
          <a:xfrm>
            <a:off x="1676400" y="3674715"/>
            <a:ext cx="9934575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https://miro.medium.com/v2/resize:fit:1400/1*bIY_8FE7dJaGk1kjU7iVSg.png</a:t>
            </a:r>
            <a:endParaRPr/>
          </a:p>
        </p:txBody>
      </p:sp>
      <p:sp>
        <p:nvSpPr>
          <p:cNvPr id="421" name="Google Shape;421;p36"/>
          <p:cNvSpPr txBox="1"/>
          <p:nvPr/>
        </p:nvSpPr>
        <p:spPr>
          <a:xfrm>
            <a:off x="1676400" y="3920430"/>
            <a:ext cx="993457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medium.com</a:t>
            </a:r>
            <a:endParaRPr/>
          </a:p>
        </p:txBody>
      </p:sp>
      <p:sp>
        <p:nvSpPr>
          <p:cNvPr id="422" name="Google Shape;422;p36"/>
          <p:cNvSpPr txBox="1"/>
          <p:nvPr/>
        </p:nvSpPr>
        <p:spPr>
          <a:xfrm>
            <a:off x="1676400" y="4459485"/>
            <a:ext cx="9934575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https://miro.medium.com/v2/resize:fit:1078/1*q1QRxnGxg8COheh8tWXAiw.png</a:t>
            </a:r>
            <a:endParaRPr/>
          </a:p>
        </p:txBody>
      </p:sp>
      <p:sp>
        <p:nvSpPr>
          <p:cNvPr id="423" name="Google Shape;423;p36"/>
          <p:cNvSpPr txBox="1"/>
          <p:nvPr/>
        </p:nvSpPr>
        <p:spPr>
          <a:xfrm>
            <a:off x="1676400" y="4705201"/>
            <a:ext cx="993457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medium.com</a:t>
            </a:r>
            <a:endParaRPr/>
          </a:p>
        </p:txBody>
      </p:sp>
      <p:sp>
        <p:nvSpPr>
          <p:cNvPr id="424" name="Google Shape;424;p36"/>
          <p:cNvSpPr txBox="1"/>
          <p:nvPr/>
        </p:nvSpPr>
        <p:spPr>
          <a:xfrm>
            <a:off x="581025" y="581025"/>
            <a:ext cx="11581447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150" u="none" cap="none" strike="noStrike">
                <a:solidFill>
                  <a:srgbClr val="2DD4B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Image Sources</a:t>
            </a:r>
            <a:endParaRPr/>
          </a:p>
        </p:txBody>
      </p:sp>
      <p:pic>
        <p:nvPicPr>
          <p:cNvPr id="425" name="Google Shape;425;p3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81025" y="2819475"/>
            <a:ext cx="954701" cy="553424"/>
          </a:xfrm>
          <a:prstGeom prst="rect">
            <a:avLst/>
          </a:prstGeom>
          <a:noFill/>
          <a:ln>
            <a:noFill/>
          </a:ln>
        </p:spPr>
      </p:pic>
      <p:pic>
        <p:nvPicPr>
          <p:cNvPr id="426" name="Google Shape;426;p3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67825" y="3622448"/>
            <a:ext cx="1181099" cy="594043"/>
          </a:xfrm>
          <a:prstGeom prst="rect">
            <a:avLst/>
          </a:prstGeom>
          <a:noFill/>
          <a:ln>
            <a:noFill/>
          </a:ln>
        </p:spPr>
      </p:pic>
      <p:pic>
        <p:nvPicPr>
          <p:cNvPr id="427" name="Google Shape;427;p3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54624" y="4553974"/>
            <a:ext cx="1181100" cy="80756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